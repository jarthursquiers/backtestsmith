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DEC9-BC61-2023-56F5-12EC1A439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AD7F-9F7E-8131-9F65-D73A3AD66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9A615-646D-A438-96B5-31A0D08A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7349-5DFA-8702-3E2A-D04601BE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246CD-86B1-C2DC-69B1-DE3C814F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1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E599-3AC7-863B-B8EF-94967B80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59855-B25A-5D16-BF4B-CE85874D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187F6-EB06-C8B9-326E-105903AE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97842-2695-EB88-551F-27CE271C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6A1DB-6F55-A403-8343-266D73B7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6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C7E-DFBC-D93D-6228-B744B81F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3DB91-E8E8-7A6F-375E-0EC8ECC2A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C2BCB-FB33-88F1-9DE6-D7279478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29E4-AFB3-DA72-4F95-D6B10C73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4DE1-47C7-52CD-1C63-59BB6094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2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5648-40C1-5D3F-87FE-7D5A90E1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9323-E610-7E36-FFFD-AA432055E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81A49-BDB4-E8FD-8D10-F6829105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96AD9-642E-2E2F-37AE-EDB8A2C0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533BA-97E3-55B7-8A54-C8305455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DC86F-549A-01BD-C185-E90EBDDD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A763-BEEA-29B7-8645-77BD0354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AD282-3422-407D-D3B5-1CD0A3A07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2B967-4ADD-C8C7-763E-8D77EF0A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D21AE-F3A6-98F2-DC00-145AEF021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41080-D68B-D3F9-6B2E-B35CAE58A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BF874-D809-66B8-7E08-2B90866A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67C19-BC9B-70F8-B76A-26FB434C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77FAA-7CA5-0327-B530-25681B66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603C-9DCF-1B6B-0983-3014184A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5E6E3-A08F-D0BF-9BD5-962CE106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3AA9A-7A57-4C88-0DC9-9EE23779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C821A-3BB6-1DB9-6E25-DAE4B722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8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05EB9-F438-47CB-2FB4-4208BC25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F24F9-C9B1-91BB-B0FD-E4960C50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5368F-2F50-7631-28C7-11B3C4E2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8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B1AB-3040-7E11-99CA-CB3379A4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C574A-13DC-3973-3AC3-2CA921666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8FE28-F364-2483-E78B-D6901EB1C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B0DA9-B6CF-D292-7A47-68036B61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FAA4-E982-B88A-3C4A-8CCA3922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B0F29-FF89-90D8-ADD9-DE2B823F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7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A6C9-8FA2-B743-9FC0-62B55E3E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7453C-C6F2-6C88-070D-942DFDDB7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82765-5A48-0BEC-21F1-34FDC9C78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EAF9-D0A7-842C-38A8-2812583E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18FAF-298D-CF63-8405-F46BD88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3580F-3DC0-7E02-D12B-59231AF3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1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8B69-A940-1235-99BF-55CBA383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54573-E45D-A403-1915-F5D7EE724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CD1E2-1A01-918C-47D1-A8488DFC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A5C4D-B4DA-F7FB-CA1D-BBC64629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6C330-F330-9B80-5A65-C02ECCF5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46C8C-7188-E420-91BC-AECB90E03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11E47-09F6-0AD1-8DB0-4357377AB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E7A20-C3FD-BAAE-3378-02A2FE06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7829E-EF17-DA5A-57DF-23B6D38F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3175-D901-1C65-A823-8A97D493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6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2BA64-B440-1C80-68A2-FEDED6C5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6C010-DBA2-0E19-7F30-8EEC3D3A8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23EFA-13F7-9797-5490-B2054BCD5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42DE1-26EE-4362-A5EE-F9BE2EB2AC3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0659E-8F3C-0475-160C-08DAEF193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62EE-87C5-3A26-9E8D-8DBBF8459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7424C-3178-4C2C-AD71-8EB3C341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D9940E-A39D-D491-49EE-C4505CE69D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650886-2FBF-4353-5D24-664496820C0D}"/>
              </a:ext>
            </a:extLst>
          </p:cNvPr>
          <p:cNvSpPr/>
          <p:nvPr/>
        </p:nvSpPr>
        <p:spPr>
          <a:xfrm>
            <a:off x="9646920" y="-123444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F249CF-7C9A-0435-09F7-0258C11F4976}"/>
              </a:ext>
            </a:extLst>
          </p:cNvPr>
          <p:cNvSpPr/>
          <p:nvPr/>
        </p:nvSpPr>
        <p:spPr>
          <a:xfrm>
            <a:off x="-1234440" y="4800600"/>
            <a:ext cx="3108960" cy="3108960"/>
          </a:xfrm>
          <a:prstGeom prst="ellipse">
            <a:avLst/>
          </a:prstGeom>
          <a:solidFill>
            <a:srgbClr val="34D399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5E8324-3042-5A26-D13B-99E24C636856}"/>
              </a:ext>
            </a:extLst>
          </p:cNvPr>
          <p:cNvCxnSpPr/>
          <p:nvPr/>
        </p:nvCxnSpPr>
        <p:spPr>
          <a:xfrm>
            <a:off x="411480" y="164592"/>
            <a:ext cx="10515600" cy="0"/>
          </a:xfrm>
          <a:prstGeom prst="line">
            <a:avLst/>
          </a:prstGeom>
          <a:ln w="8890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3457D6-FF4C-4BDF-EBF1-4009F93494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109728"/>
            <a:ext cx="713232" cy="713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DAF410-5257-8EC3-F37E-430359DDE90F}"/>
              </a:ext>
            </a:extLst>
          </p:cNvPr>
          <p:cNvSpPr txBox="1"/>
          <p:nvPr/>
        </p:nvSpPr>
        <p:spPr>
          <a:xfrm>
            <a:off x="502920" y="164592"/>
            <a:ext cx="3383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ALL-DTE MATCHED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21AC5-3DF2-6803-2B5D-B16AE9E12E84}"/>
              </a:ext>
            </a:extLst>
          </p:cNvPr>
          <p:cNvSpPr txBox="1"/>
          <p:nvPr/>
        </p:nvSpPr>
        <p:spPr>
          <a:xfrm>
            <a:off x="502920" y="475488"/>
            <a:ext cx="104241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600" b="1">
                <a:solidFill>
                  <a:srgbClr val="F4F7FB"/>
                </a:solidFill>
                <a:latin typeface="Aptos" panose="020B0004020202020204" pitchFamily="34" charset="0"/>
              </a:rPr>
              <a:t>15 DTE +300% IS THE BEST OVERALL TRADE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CEE06-F909-E646-BD5A-25F0CE2A6809}"/>
              </a:ext>
            </a:extLst>
          </p:cNvPr>
          <p:cNvSpPr txBox="1"/>
          <p:nvPr/>
        </p:nvSpPr>
        <p:spPr>
          <a:xfrm>
            <a:off x="521208" y="969264"/>
            <a:ext cx="10058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>
                <a:solidFill>
                  <a:srgbClr val="8DA2B8"/>
                </a:solidFill>
                <a:latin typeface="Aptos" panose="020B0004020202020204" pitchFamily="34" charset="0"/>
              </a:rPr>
              <a:t>7 / 11 / 15 / 19 / 23 DTE  |  same 33 market sessions  |  20-point wings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4C69B5-B2F5-8CAE-A0F7-295C1D2E08A7}"/>
              </a:ext>
            </a:extLst>
          </p:cNvPr>
          <p:cNvSpPr/>
          <p:nvPr/>
        </p:nvSpPr>
        <p:spPr>
          <a:xfrm>
            <a:off x="10469880" y="896112"/>
            <a:ext cx="62179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DE443-EF14-6631-89B4-A0F4147C8CA3}"/>
              </a:ext>
            </a:extLst>
          </p:cNvPr>
          <p:cNvSpPr txBox="1"/>
          <p:nvPr/>
        </p:nvSpPr>
        <p:spPr>
          <a:xfrm>
            <a:off x="10469880" y="896112"/>
            <a:ext cx="6217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01 / 05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67F8DB-81F0-D846-9C7E-70470FDB6F81}"/>
              </a:ext>
            </a:extLst>
          </p:cNvPr>
          <p:cNvSpPr/>
          <p:nvPr/>
        </p:nvSpPr>
        <p:spPr>
          <a:xfrm>
            <a:off x="548640" y="1417320"/>
            <a:ext cx="3236976" cy="4681728"/>
          </a:xfrm>
          <a:prstGeom prst="roundRect">
            <a:avLst/>
          </a:prstGeom>
          <a:solidFill>
            <a:srgbClr val="121B2A"/>
          </a:solidFill>
          <a:ln w="1524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24CE29-5D2F-9FA0-8737-1C669902D8D3}"/>
              </a:ext>
            </a:extLst>
          </p:cNvPr>
          <p:cNvSpPr/>
          <p:nvPr/>
        </p:nvSpPr>
        <p:spPr>
          <a:xfrm>
            <a:off x="804672" y="1664208"/>
            <a:ext cx="1078992" cy="274320"/>
          </a:xfrm>
          <a:prstGeom prst="roundRect">
            <a:avLst/>
          </a:prstGeom>
          <a:solidFill>
            <a:srgbClr val="7C57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2CDE3-7A0A-B5F6-F71F-0FCA98145B99}"/>
              </a:ext>
            </a:extLst>
          </p:cNvPr>
          <p:cNvSpPr txBox="1"/>
          <p:nvPr/>
        </p:nvSpPr>
        <p:spPr>
          <a:xfrm>
            <a:off x="804672" y="1664208"/>
            <a:ext cx="10789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PRIMARY TRADE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B874FD-4D52-239E-F4F1-94EF2F5B107E}"/>
              </a:ext>
            </a:extLst>
          </p:cNvPr>
          <p:cNvSpPr txBox="1"/>
          <p:nvPr/>
        </p:nvSpPr>
        <p:spPr>
          <a:xfrm>
            <a:off x="786384" y="2084832"/>
            <a:ext cx="21945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3000" b="1">
                <a:solidFill>
                  <a:srgbClr val="F4F7FB"/>
                </a:solidFill>
                <a:latin typeface="Aptos" panose="020B0004020202020204" pitchFamily="34" charset="0"/>
              </a:rPr>
              <a:t>15 DTE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98823-5319-8DA9-6D97-D8E0A6886EC3}"/>
              </a:ext>
            </a:extLst>
          </p:cNvPr>
          <p:cNvSpPr txBox="1"/>
          <p:nvPr/>
        </p:nvSpPr>
        <p:spPr>
          <a:xfrm>
            <a:off x="804672" y="2578608"/>
            <a:ext cx="24688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DFE8F2"/>
                </a:solidFill>
                <a:latin typeface="Aptos" panose="020B0004020202020204" pitchFamily="34" charset="0"/>
              </a:rPr>
              <a:t>20-wide butterfly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C342A-E708-C0DF-E8A7-A9D2F03EE12C}"/>
              </a:ext>
            </a:extLst>
          </p:cNvPr>
          <p:cNvSpPr txBox="1"/>
          <p:nvPr/>
        </p:nvSpPr>
        <p:spPr>
          <a:xfrm>
            <a:off x="804672" y="2944368"/>
            <a:ext cx="2670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700" b="1">
                <a:solidFill>
                  <a:srgbClr val="F4B942"/>
                </a:solidFill>
                <a:latin typeface="Aptos" panose="020B0004020202020204" pitchFamily="34" charset="0"/>
              </a:rPr>
              <a:t>Take profit at +300%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957706-DB63-8575-6D28-9AA3AD57975B}"/>
              </a:ext>
            </a:extLst>
          </p:cNvPr>
          <p:cNvCxnSpPr/>
          <p:nvPr/>
        </p:nvCxnSpPr>
        <p:spPr>
          <a:xfrm>
            <a:off x="804672" y="3456432"/>
            <a:ext cx="2724912" cy="0"/>
          </a:xfrm>
          <a:prstGeom prst="line">
            <a:avLst/>
          </a:prstGeom>
          <a:ln w="11430" cap="flat" cmpd="sng" algn="ctr">
            <a:solidFill>
              <a:srgbClr val="293A50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197C279-A1CB-6101-9C0E-F154EB8F1A03}"/>
              </a:ext>
            </a:extLst>
          </p:cNvPr>
          <p:cNvSpPr txBox="1"/>
          <p:nvPr/>
        </p:nvSpPr>
        <p:spPr>
          <a:xfrm>
            <a:off x="804672" y="3630168"/>
            <a:ext cx="13716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300" b="1">
                <a:solidFill>
                  <a:srgbClr val="34D399"/>
                </a:solidFill>
                <a:latin typeface="Aptos" panose="020B0004020202020204" pitchFamily="34" charset="0"/>
              </a:rPr>
              <a:t>$79.24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98C49B-B23D-FD4A-4268-21E11A82CBD4}"/>
              </a:ext>
            </a:extLst>
          </p:cNvPr>
          <p:cNvSpPr txBox="1"/>
          <p:nvPr/>
        </p:nvSpPr>
        <p:spPr>
          <a:xfrm>
            <a:off x="2084832" y="3739896"/>
            <a:ext cx="106070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70">
                <a:solidFill>
                  <a:srgbClr val="8DA2B8"/>
                </a:solidFill>
                <a:latin typeface="Aptos" panose="020B0004020202020204" pitchFamily="34" charset="0"/>
              </a:rPr>
              <a:t>EV per trade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DD1D6-6498-3AF7-DFF7-EF3D853BB7D8}"/>
              </a:ext>
            </a:extLst>
          </p:cNvPr>
          <p:cNvSpPr txBox="1"/>
          <p:nvPr/>
        </p:nvSpPr>
        <p:spPr>
          <a:xfrm>
            <a:off x="804672" y="4169664"/>
            <a:ext cx="13716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300" b="1">
                <a:solidFill>
                  <a:srgbClr val="F4B942"/>
                </a:solidFill>
                <a:latin typeface="Aptos" panose="020B0004020202020204" pitchFamily="34" charset="0"/>
              </a:rPr>
              <a:t>$2,615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9DD28B-2599-0E8B-BE42-5FFC6837F4EC}"/>
              </a:ext>
            </a:extLst>
          </p:cNvPr>
          <p:cNvSpPr txBox="1"/>
          <p:nvPr/>
        </p:nvSpPr>
        <p:spPr>
          <a:xfrm>
            <a:off x="2084832" y="4279392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70">
                <a:solidFill>
                  <a:srgbClr val="8DA2B8"/>
                </a:solidFill>
                <a:latin typeface="Aptos" panose="020B0004020202020204" pitchFamily="34" charset="0"/>
              </a:rPr>
              <a:t>matched total P/L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179932-359D-5DEA-71FC-171DE983918D}"/>
              </a:ext>
            </a:extLst>
          </p:cNvPr>
          <p:cNvSpPr/>
          <p:nvPr/>
        </p:nvSpPr>
        <p:spPr>
          <a:xfrm>
            <a:off x="795528" y="4837176"/>
            <a:ext cx="2724912" cy="932688"/>
          </a:xfrm>
          <a:prstGeom prst="roundRect">
            <a:avLst/>
          </a:prstGeom>
          <a:solidFill>
            <a:srgbClr val="0E1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A0FE1-131A-FD01-98A9-65151F8D26BB}"/>
              </a:ext>
            </a:extLst>
          </p:cNvPr>
          <p:cNvSpPr txBox="1"/>
          <p:nvPr/>
        </p:nvSpPr>
        <p:spPr>
          <a:xfrm>
            <a:off x="950976" y="4956048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 b="1">
                <a:solidFill>
                  <a:srgbClr val="F4B942"/>
                </a:solidFill>
                <a:latin typeface="Aptos" panose="020B0004020202020204" pitchFamily="34" charset="0"/>
              </a:rPr>
              <a:t>WHY THIS ONE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F4EB5D-0A57-4B93-D779-DD32F879CBEB}"/>
              </a:ext>
            </a:extLst>
          </p:cNvPr>
          <p:cNvSpPr txBox="1"/>
          <p:nvPr/>
        </p:nvSpPr>
        <p:spPr>
          <a:xfrm>
            <a:off x="950976" y="5184648"/>
            <a:ext cx="239572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60" b="1">
                <a:solidFill>
                  <a:srgbClr val="DFE8F2"/>
                </a:solidFill>
                <a:latin typeface="Aptos" panose="020B0004020202020204" pitchFamily="34" charset="0"/>
              </a:rPr>
              <a:t>Highest EV, 81.8% hit rate, PF 6.88; only 20 hours slower than 7 DTE.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3E3895-E756-F358-7167-7D826146AE76}"/>
              </a:ext>
            </a:extLst>
          </p:cNvPr>
          <p:cNvSpPr txBox="1"/>
          <p:nvPr/>
        </p:nvSpPr>
        <p:spPr>
          <a:xfrm>
            <a:off x="4087368" y="1508760"/>
            <a:ext cx="47548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EV PER TRADE  |  33 IDENTICAL SESSIONS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44A14F-7D22-6542-2D7A-18BA9C1187A6}"/>
              </a:ext>
            </a:extLst>
          </p:cNvPr>
          <p:cNvSpPr txBox="1"/>
          <p:nvPr/>
        </p:nvSpPr>
        <p:spPr>
          <a:xfrm>
            <a:off x="4608576" y="1801368"/>
            <a:ext cx="11704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7 DTE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4FDE27-DAF7-C8DD-2479-B97E94E3FFF4}"/>
              </a:ext>
            </a:extLst>
          </p:cNvPr>
          <p:cNvSpPr txBox="1"/>
          <p:nvPr/>
        </p:nvSpPr>
        <p:spPr>
          <a:xfrm>
            <a:off x="5961888" y="1801368"/>
            <a:ext cx="11704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11 DTE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EF30F6-DA6F-9C6D-8EB4-F1EC5943BE28}"/>
              </a:ext>
            </a:extLst>
          </p:cNvPr>
          <p:cNvSpPr txBox="1"/>
          <p:nvPr/>
        </p:nvSpPr>
        <p:spPr>
          <a:xfrm>
            <a:off x="7315200" y="1801368"/>
            <a:ext cx="11704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15 DTE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90C1BC-36E4-C8CB-745F-F332C6732F79}"/>
              </a:ext>
            </a:extLst>
          </p:cNvPr>
          <p:cNvSpPr txBox="1"/>
          <p:nvPr/>
        </p:nvSpPr>
        <p:spPr>
          <a:xfrm>
            <a:off x="8668512" y="1801368"/>
            <a:ext cx="11704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19 DTE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85B3CD-0441-5B97-D19A-28A8750E345F}"/>
              </a:ext>
            </a:extLst>
          </p:cNvPr>
          <p:cNvSpPr txBox="1"/>
          <p:nvPr/>
        </p:nvSpPr>
        <p:spPr>
          <a:xfrm>
            <a:off x="10021824" y="1801368"/>
            <a:ext cx="11704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23 DTE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E28EA3-A9D2-F5DD-791D-55BD93092C97}"/>
              </a:ext>
            </a:extLst>
          </p:cNvPr>
          <p:cNvSpPr txBox="1"/>
          <p:nvPr/>
        </p:nvSpPr>
        <p:spPr>
          <a:xfrm>
            <a:off x="3785616" y="2221992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960" b="1">
                <a:solidFill>
                  <a:srgbClr val="F4B942"/>
                </a:solidFill>
                <a:latin typeface="Aptos" panose="020B0004020202020204" pitchFamily="34" charset="0"/>
              </a:rPr>
              <a:t>+150%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319C56-4813-CD5B-112F-C74E69ED7207}"/>
              </a:ext>
            </a:extLst>
          </p:cNvPr>
          <p:cNvSpPr/>
          <p:nvPr/>
        </p:nvSpPr>
        <p:spPr>
          <a:xfrm>
            <a:off x="4608576" y="2221992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0F0FA1-8C2A-6746-988E-951D09FB42B2}"/>
              </a:ext>
            </a:extLst>
          </p:cNvPr>
          <p:cNvSpPr txBox="1"/>
          <p:nvPr/>
        </p:nvSpPr>
        <p:spPr>
          <a:xfrm>
            <a:off x="4608576" y="229514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$42.35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89612D-19D0-98B8-D7D4-53F50983A463}"/>
              </a:ext>
            </a:extLst>
          </p:cNvPr>
          <p:cNvSpPr txBox="1"/>
          <p:nvPr/>
        </p:nvSpPr>
        <p:spPr>
          <a:xfrm>
            <a:off x="4608576" y="2651760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$1,398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3B5CB69-E8BE-0CC4-8F40-4FBF63F56716}"/>
              </a:ext>
            </a:extLst>
          </p:cNvPr>
          <p:cNvSpPr/>
          <p:nvPr/>
        </p:nvSpPr>
        <p:spPr>
          <a:xfrm>
            <a:off x="5961888" y="2221992"/>
            <a:ext cx="1161288" cy="749808"/>
          </a:xfrm>
          <a:prstGeom prst="roundRect">
            <a:avLst/>
          </a:prstGeom>
          <a:solidFill>
            <a:srgbClr val="7C571A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161445-5947-1080-0A12-E0E76B6A949D}"/>
              </a:ext>
            </a:extLst>
          </p:cNvPr>
          <p:cNvSpPr txBox="1"/>
          <p:nvPr/>
        </p:nvSpPr>
        <p:spPr>
          <a:xfrm>
            <a:off x="5961888" y="229514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$46.52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0861AD-11CD-68F0-0EFF-0BE25A7E6A54}"/>
              </a:ext>
            </a:extLst>
          </p:cNvPr>
          <p:cNvSpPr txBox="1"/>
          <p:nvPr/>
        </p:nvSpPr>
        <p:spPr>
          <a:xfrm>
            <a:off x="5961888" y="2651760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$1,535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48D7D6F-788D-7D70-94C0-C6F2193E8AEA}"/>
              </a:ext>
            </a:extLst>
          </p:cNvPr>
          <p:cNvSpPr/>
          <p:nvPr/>
        </p:nvSpPr>
        <p:spPr>
          <a:xfrm>
            <a:off x="7315200" y="2221992"/>
            <a:ext cx="1161288" cy="749808"/>
          </a:xfrm>
          <a:prstGeom prst="roundRect">
            <a:avLst/>
          </a:prstGeom>
          <a:solidFill>
            <a:srgbClr val="1A3A39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61682D-5227-412B-0DA8-AF42858C4487}"/>
              </a:ext>
            </a:extLst>
          </p:cNvPr>
          <p:cNvSpPr txBox="1"/>
          <p:nvPr/>
        </p:nvSpPr>
        <p:spPr>
          <a:xfrm>
            <a:off x="7315200" y="229514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$34.85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805752-C991-D1F2-5115-AB848758DF72}"/>
              </a:ext>
            </a:extLst>
          </p:cNvPr>
          <p:cNvSpPr txBox="1"/>
          <p:nvPr/>
        </p:nvSpPr>
        <p:spPr>
          <a:xfrm>
            <a:off x="7315200" y="2651760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$1,150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3E99D17-8993-C03E-F14D-5BD87C779837}"/>
              </a:ext>
            </a:extLst>
          </p:cNvPr>
          <p:cNvSpPr/>
          <p:nvPr/>
        </p:nvSpPr>
        <p:spPr>
          <a:xfrm>
            <a:off x="8668512" y="2221992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AA2FCD-5155-B57C-37DA-98A805DF94B3}"/>
              </a:ext>
            </a:extLst>
          </p:cNvPr>
          <p:cNvSpPr txBox="1"/>
          <p:nvPr/>
        </p:nvSpPr>
        <p:spPr>
          <a:xfrm>
            <a:off x="8668512" y="229514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$34.32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A4E54-5B81-42B6-F21C-4033042BDA04}"/>
              </a:ext>
            </a:extLst>
          </p:cNvPr>
          <p:cNvSpPr txBox="1"/>
          <p:nvPr/>
        </p:nvSpPr>
        <p:spPr>
          <a:xfrm>
            <a:off x="8668512" y="2651760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$1,133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E6A7401-06B6-3405-7DF8-13B5B666221E}"/>
              </a:ext>
            </a:extLst>
          </p:cNvPr>
          <p:cNvSpPr/>
          <p:nvPr/>
        </p:nvSpPr>
        <p:spPr>
          <a:xfrm>
            <a:off x="10021824" y="2221992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CE4B44-8792-CD2A-C4DB-01374F36341D}"/>
              </a:ext>
            </a:extLst>
          </p:cNvPr>
          <p:cNvSpPr txBox="1"/>
          <p:nvPr/>
        </p:nvSpPr>
        <p:spPr>
          <a:xfrm>
            <a:off x="10021824" y="229514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$45.91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A8C732-6DBB-DEF3-4AEF-9FF2D1389AB8}"/>
              </a:ext>
            </a:extLst>
          </p:cNvPr>
          <p:cNvSpPr txBox="1"/>
          <p:nvPr/>
        </p:nvSpPr>
        <p:spPr>
          <a:xfrm>
            <a:off x="10021824" y="2651760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$1,515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3CC17A-6376-283E-AECC-6BC6BE68A5FF}"/>
              </a:ext>
            </a:extLst>
          </p:cNvPr>
          <p:cNvSpPr txBox="1"/>
          <p:nvPr/>
        </p:nvSpPr>
        <p:spPr>
          <a:xfrm>
            <a:off x="3785616" y="3191256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960" b="1">
                <a:solidFill>
                  <a:srgbClr val="F4B942"/>
                </a:solidFill>
                <a:latin typeface="Aptos" panose="020B0004020202020204" pitchFamily="34" charset="0"/>
              </a:rPr>
              <a:t>+200%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8C0C54E-93A5-DF04-239E-91527CB5C413}"/>
              </a:ext>
            </a:extLst>
          </p:cNvPr>
          <p:cNvSpPr/>
          <p:nvPr/>
        </p:nvSpPr>
        <p:spPr>
          <a:xfrm>
            <a:off x="4608576" y="3191256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C3B85C-C0C0-363B-B1F1-0981777D529F}"/>
              </a:ext>
            </a:extLst>
          </p:cNvPr>
          <p:cNvSpPr txBox="1"/>
          <p:nvPr/>
        </p:nvSpPr>
        <p:spPr>
          <a:xfrm>
            <a:off x="4608576" y="326440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$51.44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E2795C-BDCB-8C21-357C-CBDB4CE180B3}"/>
              </a:ext>
            </a:extLst>
          </p:cNvPr>
          <p:cNvSpPr txBox="1"/>
          <p:nvPr/>
        </p:nvSpPr>
        <p:spPr>
          <a:xfrm>
            <a:off x="4608576" y="362102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$1,698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39EB992-AF83-D0CF-693B-F3D77B120AE7}"/>
              </a:ext>
            </a:extLst>
          </p:cNvPr>
          <p:cNvSpPr/>
          <p:nvPr/>
        </p:nvSpPr>
        <p:spPr>
          <a:xfrm>
            <a:off x="5961888" y="3191256"/>
            <a:ext cx="1161288" cy="749808"/>
          </a:xfrm>
          <a:prstGeom prst="roundRect">
            <a:avLst/>
          </a:prstGeom>
          <a:solidFill>
            <a:srgbClr val="7C571A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A3539A-4445-F65A-40DB-E1BACE65F4F9}"/>
              </a:ext>
            </a:extLst>
          </p:cNvPr>
          <p:cNvSpPr txBox="1"/>
          <p:nvPr/>
        </p:nvSpPr>
        <p:spPr>
          <a:xfrm>
            <a:off x="5961888" y="326440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$58.64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7CC5C8-A156-BFBE-ADF7-DEA353F97691}"/>
              </a:ext>
            </a:extLst>
          </p:cNvPr>
          <p:cNvSpPr txBox="1"/>
          <p:nvPr/>
        </p:nvSpPr>
        <p:spPr>
          <a:xfrm>
            <a:off x="5961888" y="362102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$1,935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D8C214-6E19-B015-C719-14819EA46F1B}"/>
              </a:ext>
            </a:extLst>
          </p:cNvPr>
          <p:cNvSpPr/>
          <p:nvPr/>
        </p:nvSpPr>
        <p:spPr>
          <a:xfrm>
            <a:off x="7315200" y="3191256"/>
            <a:ext cx="1161288" cy="749808"/>
          </a:xfrm>
          <a:prstGeom prst="roundRect">
            <a:avLst/>
          </a:prstGeom>
          <a:solidFill>
            <a:srgbClr val="1A3A39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1628CA-FAF6-B70F-5634-6D29C5C188BA}"/>
              </a:ext>
            </a:extLst>
          </p:cNvPr>
          <p:cNvSpPr txBox="1"/>
          <p:nvPr/>
        </p:nvSpPr>
        <p:spPr>
          <a:xfrm>
            <a:off x="7315200" y="326440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$46.97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43AED6-1B02-1BC7-6C5C-41AFD7EE9891}"/>
              </a:ext>
            </a:extLst>
          </p:cNvPr>
          <p:cNvSpPr txBox="1"/>
          <p:nvPr/>
        </p:nvSpPr>
        <p:spPr>
          <a:xfrm>
            <a:off x="7315200" y="362102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$1,550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4E76B7D-8630-4FED-1586-4B447C490A2C}"/>
              </a:ext>
            </a:extLst>
          </p:cNvPr>
          <p:cNvSpPr/>
          <p:nvPr/>
        </p:nvSpPr>
        <p:spPr>
          <a:xfrm>
            <a:off x="8668512" y="3191256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D0F87B-6B8C-DB3F-2C6A-473FE7784674}"/>
              </a:ext>
            </a:extLst>
          </p:cNvPr>
          <p:cNvSpPr txBox="1"/>
          <p:nvPr/>
        </p:nvSpPr>
        <p:spPr>
          <a:xfrm>
            <a:off x="8668512" y="326440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$44.39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BBB954-E472-7875-A3CA-392E748AAD3C}"/>
              </a:ext>
            </a:extLst>
          </p:cNvPr>
          <p:cNvSpPr txBox="1"/>
          <p:nvPr/>
        </p:nvSpPr>
        <p:spPr>
          <a:xfrm>
            <a:off x="8668512" y="362102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$1,465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E227109-33EC-B185-0325-8DD2C6904015}"/>
              </a:ext>
            </a:extLst>
          </p:cNvPr>
          <p:cNvSpPr/>
          <p:nvPr/>
        </p:nvSpPr>
        <p:spPr>
          <a:xfrm>
            <a:off x="10021824" y="3191256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81173B-EB40-1209-F224-12B67C646B28}"/>
              </a:ext>
            </a:extLst>
          </p:cNvPr>
          <p:cNvSpPr txBox="1"/>
          <p:nvPr/>
        </p:nvSpPr>
        <p:spPr>
          <a:xfrm>
            <a:off x="10021824" y="326440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$43.33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8BC79C-7E77-9B6B-595F-9811319330DC}"/>
              </a:ext>
            </a:extLst>
          </p:cNvPr>
          <p:cNvSpPr txBox="1"/>
          <p:nvPr/>
        </p:nvSpPr>
        <p:spPr>
          <a:xfrm>
            <a:off x="10021824" y="3621024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$1,430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D6CC8D-53AA-A89A-83BE-FB27A1F659E0}"/>
              </a:ext>
            </a:extLst>
          </p:cNvPr>
          <p:cNvSpPr txBox="1"/>
          <p:nvPr/>
        </p:nvSpPr>
        <p:spPr>
          <a:xfrm>
            <a:off x="3785616" y="4160520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960" b="1">
                <a:solidFill>
                  <a:srgbClr val="F4B942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8AC203A-7E4E-85A9-DE8B-8D8D8AFDCBD0}"/>
              </a:ext>
            </a:extLst>
          </p:cNvPr>
          <p:cNvSpPr/>
          <p:nvPr/>
        </p:nvSpPr>
        <p:spPr>
          <a:xfrm>
            <a:off x="4608576" y="4160520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80755B-04EB-6C6B-EB01-8F6601DE8332}"/>
              </a:ext>
            </a:extLst>
          </p:cNvPr>
          <p:cNvSpPr txBox="1"/>
          <p:nvPr/>
        </p:nvSpPr>
        <p:spPr>
          <a:xfrm>
            <a:off x="4608576" y="4233672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$78.56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8B03EB-1B46-8D26-CAA5-9CCB4207D276}"/>
              </a:ext>
            </a:extLst>
          </p:cNvPr>
          <p:cNvSpPr txBox="1"/>
          <p:nvPr/>
        </p:nvSpPr>
        <p:spPr>
          <a:xfrm>
            <a:off x="4608576" y="459028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$2,593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8611382-8963-1BF0-2A86-9664F3FD4AD8}"/>
              </a:ext>
            </a:extLst>
          </p:cNvPr>
          <p:cNvSpPr/>
          <p:nvPr/>
        </p:nvSpPr>
        <p:spPr>
          <a:xfrm>
            <a:off x="5961888" y="4160520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F395EB9-BF6E-7E0A-7D49-87BC548B5476}"/>
              </a:ext>
            </a:extLst>
          </p:cNvPr>
          <p:cNvSpPr txBox="1"/>
          <p:nvPr/>
        </p:nvSpPr>
        <p:spPr>
          <a:xfrm>
            <a:off x="5961888" y="4233672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$65.30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CF1153-6E39-44FB-BF18-0029D35D4791}"/>
              </a:ext>
            </a:extLst>
          </p:cNvPr>
          <p:cNvSpPr txBox="1"/>
          <p:nvPr/>
        </p:nvSpPr>
        <p:spPr>
          <a:xfrm>
            <a:off x="5961888" y="459028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$2,155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6DE794D-4C36-FAD4-4BF2-C171E3A5C54D}"/>
              </a:ext>
            </a:extLst>
          </p:cNvPr>
          <p:cNvSpPr/>
          <p:nvPr/>
        </p:nvSpPr>
        <p:spPr>
          <a:xfrm>
            <a:off x="7315200" y="4160520"/>
            <a:ext cx="1161288" cy="749808"/>
          </a:xfrm>
          <a:prstGeom prst="roundRect">
            <a:avLst/>
          </a:prstGeom>
          <a:solidFill>
            <a:srgbClr val="7C571A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1A2E98-6E5A-C73E-30F8-1DF7E3D1591F}"/>
              </a:ext>
            </a:extLst>
          </p:cNvPr>
          <p:cNvSpPr txBox="1"/>
          <p:nvPr/>
        </p:nvSpPr>
        <p:spPr>
          <a:xfrm>
            <a:off x="7315200" y="4233672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$79.24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818B20-55C7-5C68-D873-90AF6D2B21F4}"/>
              </a:ext>
            </a:extLst>
          </p:cNvPr>
          <p:cNvSpPr txBox="1"/>
          <p:nvPr/>
        </p:nvSpPr>
        <p:spPr>
          <a:xfrm>
            <a:off x="7315200" y="459028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$2,615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57F4C1F-EF5B-8D0D-94B3-D76BF8A0CF38}"/>
              </a:ext>
            </a:extLst>
          </p:cNvPr>
          <p:cNvSpPr/>
          <p:nvPr/>
        </p:nvSpPr>
        <p:spPr>
          <a:xfrm>
            <a:off x="8668512" y="4160520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EF5078-27A7-599A-FA0C-2A7B805E2107}"/>
              </a:ext>
            </a:extLst>
          </p:cNvPr>
          <p:cNvSpPr txBox="1"/>
          <p:nvPr/>
        </p:nvSpPr>
        <p:spPr>
          <a:xfrm>
            <a:off x="8668512" y="4233672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$57.27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83299A-C064-683B-C78E-4CBA53B1585C}"/>
              </a:ext>
            </a:extLst>
          </p:cNvPr>
          <p:cNvSpPr txBox="1"/>
          <p:nvPr/>
        </p:nvSpPr>
        <p:spPr>
          <a:xfrm>
            <a:off x="8668512" y="459028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$1,890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CB58B4C-6E54-348C-EC21-531CAADC62DA}"/>
              </a:ext>
            </a:extLst>
          </p:cNvPr>
          <p:cNvSpPr/>
          <p:nvPr/>
        </p:nvSpPr>
        <p:spPr>
          <a:xfrm>
            <a:off x="10021824" y="4160520"/>
            <a:ext cx="1161288" cy="749808"/>
          </a:xfrm>
          <a:prstGeom prst="roundRect">
            <a:avLst/>
          </a:prstGeom>
          <a:solidFill>
            <a:srgbClr val="213550"/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0822F2-8312-36DA-6A1D-4823027115A2}"/>
              </a:ext>
            </a:extLst>
          </p:cNvPr>
          <p:cNvSpPr txBox="1"/>
          <p:nvPr/>
        </p:nvSpPr>
        <p:spPr>
          <a:xfrm>
            <a:off x="10021824" y="4233672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30" b="1">
                <a:solidFill>
                  <a:srgbClr val="F4F7FB"/>
                </a:solidFill>
                <a:latin typeface="Aptos" panose="020B0004020202020204" pitchFamily="34" charset="0"/>
              </a:rPr>
              <a:t>$58.18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EBBD71-CD03-07F3-B4AB-945B2D5102F7}"/>
              </a:ext>
            </a:extLst>
          </p:cNvPr>
          <p:cNvSpPr txBox="1"/>
          <p:nvPr/>
        </p:nvSpPr>
        <p:spPr>
          <a:xfrm>
            <a:off x="10021824" y="4590288"/>
            <a:ext cx="11612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740">
                <a:solidFill>
                  <a:srgbClr val="CBD5E1"/>
                </a:solidFill>
                <a:latin typeface="Aptos" panose="020B0004020202020204" pitchFamily="34" charset="0"/>
              </a:rPr>
              <a:t>$1,920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BA8BD98-7C74-4DE6-E6A4-34120DA7432E}"/>
              </a:ext>
            </a:extLst>
          </p:cNvPr>
          <p:cNvSpPr/>
          <p:nvPr/>
        </p:nvSpPr>
        <p:spPr>
          <a:xfrm>
            <a:off x="7278624" y="4114800"/>
            <a:ext cx="1234440" cy="841248"/>
          </a:xfrm>
          <a:prstGeom prst="roundRect">
            <a:avLst/>
          </a:prstGeom>
          <a:solidFill>
            <a:srgbClr val="F4B942">
              <a:alpha val="0"/>
            </a:srgbClr>
          </a:solidFill>
          <a:ln w="2794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CF388A5-A979-69F0-0A16-C5883C73D481}"/>
              </a:ext>
            </a:extLst>
          </p:cNvPr>
          <p:cNvSpPr/>
          <p:nvPr/>
        </p:nvSpPr>
        <p:spPr>
          <a:xfrm>
            <a:off x="4590288" y="5376672"/>
            <a:ext cx="804672" cy="274320"/>
          </a:xfrm>
          <a:prstGeom prst="roundRect">
            <a:avLst/>
          </a:prstGeom>
          <a:solidFill>
            <a:srgbClr val="7C57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A27CD3-7C01-1253-E7DE-A0F1AAA29766}"/>
              </a:ext>
            </a:extLst>
          </p:cNvPr>
          <p:cNvSpPr txBox="1"/>
          <p:nvPr/>
        </p:nvSpPr>
        <p:spPr>
          <a:xfrm>
            <a:off x="4590288" y="5376672"/>
            <a:ext cx="80467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THE READ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CA1E36-9862-189D-D66F-C90E5220063F}"/>
              </a:ext>
            </a:extLst>
          </p:cNvPr>
          <p:cNvSpPr txBox="1"/>
          <p:nvPr/>
        </p:nvSpPr>
        <p:spPr>
          <a:xfrm>
            <a:off x="5577840" y="5340096"/>
            <a:ext cx="50749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120" b="1">
                <a:solidFill>
                  <a:srgbClr val="F4F7FB"/>
                </a:solidFill>
                <a:latin typeface="Aptos" panose="020B0004020202020204" pitchFamily="34" charset="0"/>
              </a:rPr>
              <a:t>11 DTE wins at +150 / +200.  15 DTE wins at +300.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45FC4C-A216-3BD0-B2C1-9D2824DBFD32}"/>
              </a:ext>
            </a:extLst>
          </p:cNvPr>
          <p:cNvSpPr txBox="1"/>
          <p:nvPr/>
        </p:nvSpPr>
        <p:spPr>
          <a:xfrm>
            <a:off x="5577840" y="5660136"/>
            <a:ext cx="50749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>
                <a:solidFill>
                  <a:srgbClr val="8DA2B8"/>
                </a:solidFill>
                <a:latin typeface="Aptos" panose="020B0004020202020204" pitchFamily="34" charset="0"/>
              </a:rPr>
              <a:t>The return edge peaks at 15 DTE, then declines at 19 and 23 DTE.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7873344-FEE6-BD4D-1134-BB9CF60A84B9}"/>
              </a:ext>
            </a:extLst>
          </p:cNvPr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 cap="flat" cmpd="sng" algn="ctr">
            <a:solidFill>
              <a:srgbClr val="293A5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C0119AF-07D5-E7D9-47B0-6169ED9EC648}"/>
              </a:ext>
            </a:extLst>
          </p:cNvPr>
          <p:cNvSpPr txBox="1"/>
          <p:nvPr/>
        </p:nvSpPr>
        <p:spPr>
          <a:xfrm>
            <a:off x="521208" y="6528816"/>
            <a:ext cx="7955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20">
                <a:solidFill>
                  <a:srgbClr val="51677F"/>
                </a:solidFill>
                <a:latin typeface="Aptos" panose="020B0004020202020204" pitchFamily="34" charset="0"/>
              </a:rPr>
              <a:t>Matched window: 2025-08-18 to 2026-07-10  |  EMA 9  |  3-minute carry limit  |  $0.05 slippage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6D66F4-7D8B-160C-F465-26F2E60E89A4}"/>
              </a:ext>
            </a:extLst>
          </p:cNvPr>
          <p:cNvSpPr txBox="1"/>
          <p:nvPr/>
        </p:nvSpPr>
        <p:spPr>
          <a:xfrm>
            <a:off x="8549640" y="6528816"/>
            <a:ext cx="3108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00" b="1">
                <a:solidFill>
                  <a:srgbClr val="51677F"/>
                </a:solidFill>
                <a:latin typeface="Aptos" panose="020B0004020202020204" pitchFamily="34" charset="0"/>
              </a:rPr>
              <a:t>OPTION  SMITH  |  CRAFT YOUR TRADING EDGE</a:t>
            </a:r>
          </a:p>
        </p:txBody>
      </p:sp>
    </p:spTree>
    <p:extLst>
      <p:ext uri="{BB962C8B-B14F-4D97-AF65-F5344CB8AC3E}">
        <p14:creationId xmlns:p14="http://schemas.microsoft.com/office/powerpoint/2010/main" val="4234299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DB984-1BB9-E028-37A6-E3ADE28B745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5AD9C0-7912-690B-063A-ED25F13CB76D}"/>
              </a:ext>
            </a:extLst>
          </p:cNvPr>
          <p:cNvSpPr/>
          <p:nvPr/>
        </p:nvSpPr>
        <p:spPr>
          <a:xfrm>
            <a:off x="9646920" y="-123444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FC3520-00A1-42FE-3DAD-723FD7B469AC}"/>
              </a:ext>
            </a:extLst>
          </p:cNvPr>
          <p:cNvSpPr/>
          <p:nvPr/>
        </p:nvSpPr>
        <p:spPr>
          <a:xfrm>
            <a:off x="-1234440" y="4800600"/>
            <a:ext cx="3108960" cy="3108960"/>
          </a:xfrm>
          <a:prstGeom prst="ellipse">
            <a:avLst/>
          </a:prstGeom>
          <a:solidFill>
            <a:srgbClr val="34D399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06EB2A-7A6C-2EA1-3F27-C039F86684F6}"/>
              </a:ext>
            </a:extLst>
          </p:cNvPr>
          <p:cNvCxnSpPr/>
          <p:nvPr/>
        </p:nvCxnSpPr>
        <p:spPr>
          <a:xfrm>
            <a:off x="411480" y="164592"/>
            <a:ext cx="10515600" cy="0"/>
          </a:xfrm>
          <a:prstGeom prst="line">
            <a:avLst/>
          </a:prstGeom>
          <a:ln w="8890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3ADDC59-C25E-73CA-FAFC-332D5D6A14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109728"/>
            <a:ext cx="713232" cy="713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CE81C4-1723-BFCA-EE1F-BD4DD49912B5}"/>
              </a:ext>
            </a:extLst>
          </p:cNvPr>
          <p:cNvSpPr txBox="1"/>
          <p:nvPr/>
        </p:nvSpPr>
        <p:spPr>
          <a:xfrm>
            <a:off x="502920" y="164592"/>
            <a:ext cx="3383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DTE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74123-4E65-BE66-835E-234443075B5C}"/>
              </a:ext>
            </a:extLst>
          </p:cNvPr>
          <p:cNvSpPr txBox="1"/>
          <p:nvPr/>
        </p:nvSpPr>
        <p:spPr>
          <a:xfrm>
            <a:off x="502920" y="475488"/>
            <a:ext cx="104241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600" b="1">
                <a:solidFill>
                  <a:srgbClr val="F4F7FB"/>
                </a:solidFill>
                <a:latin typeface="Aptos" panose="020B0004020202020204" pitchFamily="34" charset="0"/>
              </a:rPr>
              <a:t>ALL FIVE DTEs ON THE SAME MARKET DATES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CC9EB-B610-336F-9741-E684D0EB3E03}"/>
              </a:ext>
            </a:extLst>
          </p:cNvPr>
          <p:cNvSpPr txBox="1"/>
          <p:nvPr/>
        </p:nvSpPr>
        <p:spPr>
          <a:xfrm>
            <a:off x="521208" y="969264"/>
            <a:ext cx="10058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>
                <a:solidFill>
                  <a:srgbClr val="8DA2B8"/>
                </a:solidFill>
                <a:latin typeface="Aptos" panose="020B0004020202020204" pitchFamily="34" charset="0"/>
              </a:rPr>
              <a:t>Expected value by profit target  |  every point represents the same 33 sessions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04A696-94A5-43CC-6439-E77B0FB4122E}"/>
              </a:ext>
            </a:extLst>
          </p:cNvPr>
          <p:cNvSpPr/>
          <p:nvPr/>
        </p:nvSpPr>
        <p:spPr>
          <a:xfrm>
            <a:off x="10469880" y="896112"/>
            <a:ext cx="62179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C4A44-00C5-AFD4-1AF2-C993FD12A809}"/>
              </a:ext>
            </a:extLst>
          </p:cNvPr>
          <p:cNvSpPr txBox="1"/>
          <p:nvPr/>
        </p:nvSpPr>
        <p:spPr>
          <a:xfrm>
            <a:off x="10469880" y="896112"/>
            <a:ext cx="6217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02 / 05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636F7A-8358-D52D-D477-F1C7E3EC8044}"/>
              </a:ext>
            </a:extLst>
          </p:cNvPr>
          <p:cNvSpPr/>
          <p:nvPr/>
        </p:nvSpPr>
        <p:spPr>
          <a:xfrm>
            <a:off x="548640" y="1417320"/>
            <a:ext cx="7790688" cy="473659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E06111-9FB0-0E2C-84AD-158F6A81C056}"/>
              </a:ext>
            </a:extLst>
          </p:cNvPr>
          <p:cNvSpPr txBox="1"/>
          <p:nvPr/>
        </p:nvSpPr>
        <p:spPr>
          <a:xfrm>
            <a:off x="804672" y="1627632"/>
            <a:ext cx="28803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EV PER TRADE BY DTE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08BADB-327C-4720-D660-2498C1DDD0D0}"/>
              </a:ext>
            </a:extLst>
          </p:cNvPr>
          <p:cNvCxnSpPr/>
          <p:nvPr/>
        </p:nvCxnSpPr>
        <p:spPr>
          <a:xfrm>
            <a:off x="1005840" y="5230368"/>
            <a:ext cx="6949440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9F38E0-F7AF-5CDB-DF4E-F03286EAC9E1}"/>
              </a:ext>
            </a:extLst>
          </p:cNvPr>
          <p:cNvSpPr txBox="1"/>
          <p:nvPr/>
        </p:nvSpPr>
        <p:spPr>
          <a:xfrm>
            <a:off x="603504" y="5129784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8A75C-40D9-1030-4219-5ED0FA70B108}"/>
              </a:ext>
            </a:extLst>
          </p:cNvPr>
          <p:cNvCxnSpPr/>
          <p:nvPr/>
        </p:nvCxnSpPr>
        <p:spPr>
          <a:xfrm>
            <a:off x="1005840" y="4178808"/>
            <a:ext cx="6949440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C54B101-6B44-C2DA-EF37-C96F873CDD26}"/>
              </a:ext>
            </a:extLst>
          </p:cNvPr>
          <p:cNvSpPr txBox="1"/>
          <p:nvPr/>
        </p:nvSpPr>
        <p:spPr>
          <a:xfrm>
            <a:off x="603504" y="4078224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$30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1E94BA-0DE9-6084-A2B7-39F10E3C86C8}"/>
              </a:ext>
            </a:extLst>
          </p:cNvPr>
          <p:cNvCxnSpPr/>
          <p:nvPr/>
        </p:nvCxnSpPr>
        <p:spPr>
          <a:xfrm>
            <a:off x="1005840" y="3127248"/>
            <a:ext cx="6949440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566F37-DA79-9D9E-01DA-C91F57B609EC}"/>
              </a:ext>
            </a:extLst>
          </p:cNvPr>
          <p:cNvSpPr txBox="1"/>
          <p:nvPr/>
        </p:nvSpPr>
        <p:spPr>
          <a:xfrm>
            <a:off x="603504" y="3026664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$60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0CE490-DC4D-C245-CD1E-674F7D2E0334}"/>
              </a:ext>
            </a:extLst>
          </p:cNvPr>
          <p:cNvCxnSpPr/>
          <p:nvPr/>
        </p:nvCxnSpPr>
        <p:spPr>
          <a:xfrm>
            <a:off x="1005840" y="2075688"/>
            <a:ext cx="6949440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33D631B-68DB-A214-A698-47AB38618256}"/>
              </a:ext>
            </a:extLst>
          </p:cNvPr>
          <p:cNvSpPr txBox="1"/>
          <p:nvPr/>
        </p:nvSpPr>
        <p:spPr>
          <a:xfrm>
            <a:off x="603504" y="1975104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$90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5D7E61-5FB2-AD3B-0FEE-5D039F208786}"/>
              </a:ext>
            </a:extLst>
          </p:cNvPr>
          <p:cNvSpPr/>
          <p:nvPr/>
        </p:nvSpPr>
        <p:spPr>
          <a:xfrm>
            <a:off x="1207008" y="3654476"/>
            <a:ext cx="182880" cy="182880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ED715E-AF38-A395-4AAE-8B3DAFA816E9}"/>
              </a:ext>
            </a:extLst>
          </p:cNvPr>
          <p:cNvCxnSpPr/>
          <p:nvPr/>
        </p:nvCxnSpPr>
        <p:spPr>
          <a:xfrm flipV="1">
            <a:off x="1298448" y="3599749"/>
            <a:ext cx="1463040" cy="146167"/>
          </a:xfrm>
          <a:prstGeom prst="line">
            <a:avLst/>
          </a:prstGeom>
          <a:ln w="3429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A36C1BE-550F-4DD9-FAE6-9CE53D4AFD78}"/>
              </a:ext>
            </a:extLst>
          </p:cNvPr>
          <p:cNvSpPr/>
          <p:nvPr/>
        </p:nvSpPr>
        <p:spPr>
          <a:xfrm>
            <a:off x="2670048" y="3508309"/>
            <a:ext cx="182880" cy="182880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E57F36-5271-0B0D-2F48-1D785A1517D3}"/>
              </a:ext>
            </a:extLst>
          </p:cNvPr>
          <p:cNvCxnSpPr/>
          <p:nvPr/>
        </p:nvCxnSpPr>
        <p:spPr>
          <a:xfrm>
            <a:off x="2761488" y="3599749"/>
            <a:ext cx="1463040" cy="409057"/>
          </a:xfrm>
          <a:prstGeom prst="line">
            <a:avLst/>
          </a:prstGeom>
          <a:ln w="3429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79B935D-EC0B-354B-DE93-0E1C4C7A445A}"/>
              </a:ext>
            </a:extLst>
          </p:cNvPr>
          <p:cNvSpPr/>
          <p:nvPr/>
        </p:nvSpPr>
        <p:spPr>
          <a:xfrm>
            <a:off x="4133088" y="3917366"/>
            <a:ext cx="182880" cy="182880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B1C4C8-2917-DB9D-9919-1ED1AB3DFE28}"/>
              </a:ext>
            </a:extLst>
          </p:cNvPr>
          <p:cNvCxnSpPr/>
          <p:nvPr/>
        </p:nvCxnSpPr>
        <p:spPr>
          <a:xfrm>
            <a:off x="4224528" y="4008806"/>
            <a:ext cx="1463040" cy="18577"/>
          </a:xfrm>
          <a:prstGeom prst="line">
            <a:avLst/>
          </a:prstGeom>
          <a:ln w="3429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D1055E2-B032-DCF9-D236-7824CE6EF9CF}"/>
              </a:ext>
            </a:extLst>
          </p:cNvPr>
          <p:cNvSpPr/>
          <p:nvPr/>
        </p:nvSpPr>
        <p:spPr>
          <a:xfrm>
            <a:off x="5596128" y="3935943"/>
            <a:ext cx="182880" cy="182880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C98DB7-EE6F-4213-D31D-29529CA34473}"/>
              </a:ext>
            </a:extLst>
          </p:cNvPr>
          <p:cNvCxnSpPr/>
          <p:nvPr/>
        </p:nvCxnSpPr>
        <p:spPr>
          <a:xfrm flipV="1">
            <a:off x="5687568" y="3621131"/>
            <a:ext cx="1463040" cy="406252"/>
          </a:xfrm>
          <a:prstGeom prst="line">
            <a:avLst/>
          </a:prstGeom>
          <a:ln w="3429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4F48458-82A8-FE5C-7DBD-EF5673829C5E}"/>
              </a:ext>
            </a:extLst>
          </p:cNvPr>
          <p:cNvSpPr/>
          <p:nvPr/>
        </p:nvSpPr>
        <p:spPr>
          <a:xfrm>
            <a:off x="7059168" y="3529691"/>
            <a:ext cx="182881" cy="182880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79219-CF00-B180-2714-4B0B227D4AB6}"/>
              </a:ext>
            </a:extLst>
          </p:cNvPr>
          <p:cNvSpPr/>
          <p:nvPr/>
        </p:nvSpPr>
        <p:spPr>
          <a:xfrm>
            <a:off x="1207008" y="3335853"/>
            <a:ext cx="182880" cy="182880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6FB056-CA0D-0C8E-3B10-92BA02BD7656}"/>
              </a:ext>
            </a:extLst>
          </p:cNvPr>
          <p:cNvCxnSpPr/>
          <p:nvPr/>
        </p:nvCxnSpPr>
        <p:spPr>
          <a:xfrm flipV="1">
            <a:off x="1298448" y="3174919"/>
            <a:ext cx="1463040" cy="252374"/>
          </a:xfrm>
          <a:prstGeom prst="line">
            <a:avLst/>
          </a:prstGeom>
          <a:ln w="3429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581799C-81AA-9116-8986-7D93675E205D}"/>
              </a:ext>
            </a:extLst>
          </p:cNvPr>
          <p:cNvSpPr/>
          <p:nvPr/>
        </p:nvSpPr>
        <p:spPr>
          <a:xfrm>
            <a:off x="2670048" y="3083479"/>
            <a:ext cx="182880" cy="182880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59E7C1-EE52-8E74-33DE-22228A99577E}"/>
              </a:ext>
            </a:extLst>
          </p:cNvPr>
          <p:cNvCxnSpPr/>
          <p:nvPr/>
        </p:nvCxnSpPr>
        <p:spPr>
          <a:xfrm>
            <a:off x="2761488" y="3174919"/>
            <a:ext cx="1463040" cy="409056"/>
          </a:xfrm>
          <a:prstGeom prst="line">
            <a:avLst/>
          </a:prstGeom>
          <a:ln w="3429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3D304B3C-DFEF-28BC-5372-5F43CEAE8449}"/>
              </a:ext>
            </a:extLst>
          </p:cNvPr>
          <p:cNvSpPr/>
          <p:nvPr/>
        </p:nvSpPr>
        <p:spPr>
          <a:xfrm>
            <a:off x="4133088" y="3492536"/>
            <a:ext cx="182880" cy="182880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5D098E-6FDA-251C-AAB1-8625DD0AE15F}"/>
              </a:ext>
            </a:extLst>
          </p:cNvPr>
          <p:cNvCxnSpPr/>
          <p:nvPr/>
        </p:nvCxnSpPr>
        <p:spPr>
          <a:xfrm>
            <a:off x="4224528" y="3583975"/>
            <a:ext cx="1463040" cy="90435"/>
          </a:xfrm>
          <a:prstGeom prst="line">
            <a:avLst/>
          </a:prstGeom>
          <a:ln w="3429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4E4128A-061B-520E-DAF5-C2BD03BC066D}"/>
              </a:ext>
            </a:extLst>
          </p:cNvPr>
          <p:cNvSpPr/>
          <p:nvPr/>
        </p:nvSpPr>
        <p:spPr>
          <a:xfrm>
            <a:off x="5596128" y="3582970"/>
            <a:ext cx="182880" cy="182880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6F2A8E2-5B07-AAEF-A21E-C423EE3EA651}"/>
              </a:ext>
            </a:extLst>
          </p:cNvPr>
          <p:cNvCxnSpPr/>
          <p:nvPr/>
        </p:nvCxnSpPr>
        <p:spPr>
          <a:xfrm>
            <a:off x="5687568" y="3674410"/>
            <a:ext cx="1463040" cy="37155"/>
          </a:xfrm>
          <a:prstGeom prst="line">
            <a:avLst/>
          </a:prstGeom>
          <a:ln w="3429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0729076-135D-0B0E-5570-EFFF2C76FFE5}"/>
              </a:ext>
            </a:extLst>
          </p:cNvPr>
          <p:cNvSpPr/>
          <p:nvPr/>
        </p:nvSpPr>
        <p:spPr>
          <a:xfrm>
            <a:off x="7059168" y="3620125"/>
            <a:ext cx="182881" cy="182880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C1A28B-3119-6F55-BCB6-16A10CCEC168}"/>
              </a:ext>
            </a:extLst>
          </p:cNvPr>
          <p:cNvSpPr/>
          <p:nvPr/>
        </p:nvSpPr>
        <p:spPr>
          <a:xfrm>
            <a:off x="1207008" y="2385243"/>
            <a:ext cx="182880" cy="182880"/>
          </a:xfrm>
          <a:prstGeom prst="ellipse">
            <a:avLst/>
          </a:prstGeom>
          <a:solidFill>
            <a:srgbClr val="F4B942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0DA9B53-00BA-229E-DDF2-F1100A86FEFE}"/>
              </a:ext>
            </a:extLst>
          </p:cNvPr>
          <p:cNvCxnSpPr/>
          <p:nvPr/>
        </p:nvCxnSpPr>
        <p:spPr>
          <a:xfrm>
            <a:off x="1298448" y="2476683"/>
            <a:ext cx="1463040" cy="464789"/>
          </a:xfrm>
          <a:prstGeom prst="line">
            <a:avLst/>
          </a:prstGeom>
          <a:ln w="34290" cap="flat" cmpd="sng" algn="ctr">
            <a:solidFill>
              <a:srgbClr val="F4B9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21C686CC-51A1-90EA-7FD9-6734ABA1B8E4}"/>
              </a:ext>
            </a:extLst>
          </p:cNvPr>
          <p:cNvSpPr/>
          <p:nvPr/>
        </p:nvSpPr>
        <p:spPr>
          <a:xfrm>
            <a:off x="2670048" y="2850032"/>
            <a:ext cx="182880" cy="182880"/>
          </a:xfrm>
          <a:prstGeom prst="ellipse">
            <a:avLst/>
          </a:prstGeom>
          <a:solidFill>
            <a:srgbClr val="F4B942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9367F-447A-9E41-D074-348FA60EDDE3}"/>
              </a:ext>
            </a:extLst>
          </p:cNvPr>
          <p:cNvCxnSpPr/>
          <p:nvPr/>
        </p:nvCxnSpPr>
        <p:spPr>
          <a:xfrm flipV="1">
            <a:off x="2761488" y="2452848"/>
            <a:ext cx="1463040" cy="488624"/>
          </a:xfrm>
          <a:prstGeom prst="line">
            <a:avLst/>
          </a:prstGeom>
          <a:ln w="34290" cap="flat" cmpd="sng" algn="ctr">
            <a:solidFill>
              <a:srgbClr val="F4B9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431F913-3D84-2363-A8B8-8C0958AE84C4}"/>
              </a:ext>
            </a:extLst>
          </p:cNvPr>
          <p:cNvSpPr/>
          <p:nvPr/>
        </p:nvSpPr>
        <p:spPr>
          <a:xfrm>
            <a:off x="4133088" y="2361408"/>
            <a:ext cx="182880" cy="182880"/>
          </a:xfrm>
          <a:prstGeom prst="ellipse">
            <a:avLst/>
          </a:prstGeom>
          <a:solidFill>
            <a:srgbClr val="F4B942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FD7443-D348-D266-F365-A3D6FF2EF345}"/>
              </a:ext>
            </a:extLst>
          </p:cNvPr>
          <p:cNvCxnSpPr/>
          <p:nvPr/>
        </p:nvCxnSpPr>
        <p:spPr>
          <a:xfrm>
            <a:off x="4224528" y="2452848"/>
            <a:ext cx="1463040" cy="770092"/>
          </a:xfrm>
          <a:prstGeom prst="line">
            <a:avLst/>
          </a:prstGeom>
          <a:ln w="34290" cap="flat" cmpd="sng" algn="ctr">
            <a:solidFill>
              <a:srgbClr val="F4B9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69EE3EF-5C11-C734-3DE1-E7B77D250D87}"/>
              </a:ext>
            </a:extLst>
          </p:cNvPr>
          <p:cNvSpPr/>
          <p:nvPr/>
        </p:nvSpPr>
        <p:spPr>
          <a:xfrm>
            <a:off x="5596128" y="3131500"/>
            <a:ext cx="182880" cy="182880"/>
          </a:xfrm>
          <a:prstGeom prst="ellipse">
            <a:avLst/>
          </a:prstGeom>
          <a:solidFill>
            <a:srgbClr val="F4B942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577D08-42B1-7044-4B5B-C1AAC5C1C016}"/>
              </a:ext>
            </a:extLst>
          </p:cNvPr>
          <p:cNvCxnSpPr/>
          <p:nvPr/>
        </p:nvCxnSpPr>
        <p:spPr>
          <a:xfrm flipV="1">
            <a:off x="5687568" y="3191043"/>
            <a:ext cx="1463040" cy="31897"/>
          </a:xfrm>
          <a:prstGeom prst="line">
            <a:avLst/>
          </a:prstGeom>
          <a:ln w="34290" cap="flat" cmpd="sng" algn="ctr">
            <a:solidFill>
              <a:srgbClr val="F4B9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C55EF3C-26F1-1FEB-4962-36D6A610BC47}"/>
              </a:ext>
            </a:extLst>
          </p:cNvPr>
          <p:cNvSpPr/>
          <p:nvPr/>
        </p:nvSpPr>
        <p:spPr>
          <a:xfrm>
            <a:off x="7059168" y="3099603"/>
            <a:ext cx="182881" cy="182880"/>
          </a:xfrm>
          <a:prstGeom prst="ellipse">
            <a:avLst/>
          </a:prstGeom>
          <a:solidFill>
            <a:srgbClr val="F4B942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D8AEA6-CC6C-02C6-0FD3-812E00D9812B}"/>
              </a:ext>
            </a:extLst>
          </p:cNvPr>
          <p:cNvSpPr txBox="1"/>
          <p:nvPr/>
        </p:nvSpPr>
        <p:spPr>
          <a:xfrm>
            <a:off x="914400" y="5394960"/>
            <a:ext cx="7680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F7FB"/>
                </a:solidFill>
                <a:latin typeface="Aptos" panose="020B0004020202020204" pitchFamily="34" charset="0"/>
              </a:rPr>
              <a:t>7 DTE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19D2DE-35B6-5765-7C1D-55C124C10C0C}"/>
              </a:ext>
            </a:extLst>
          </p:cNvPr>
          <p:cNvSpPr txBox="1"/>
          <p:nvPr/>
        </p:nvSpPr>
        <p:spPr>
          <a:xfrm>
            <a:off x="2377440" y="5394960"/>
            <a:ext cx="7680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F7FB"/>
                </a:solidFill>
                <a:latin typeface="Aptos" panose="020B0004020202020204" pitchFamily="34" charset="0"/>
              </a:rPr>
              <a:t>11 DTE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2FFDEA-1D5D-36FD-4F60-4532A791D773}"/>
              </a:ext>
            </a:extLst>
          </p:cNvPr>
          <p:cNvSpPr txBox="1"/>
          <p:nvPr/>
        </p:nvSpPr>
        <p:spPr>
          <a:xfrm>
            <a:off x="3840480" y="5394960"/>
            <a:ext cx="7680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F7FB"/>
                </a:solidFill>
                <a:latin typeface="Aptos" panose="020B0004020202020204" pitchFamily="34" charset="0"/>
              </a:rPr>
              <a:t>15 DTE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8D86ED-6478-75AF-882C-BA873E15C59D}"/>
              </a:ext>
            </a:extLst>
          </p:cNvPr>
          <p:cNvSpPr txBox="1"/>
          <p:nvPr/>
        </p:nvSpPr>
        <p:spPr>
          <a:xfrm>
            <a:off x="5303520" y="5394960"/>
            <a:ext cx="7680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F7FB"/>
                </a:solidFill>
                <a:latin typeface="Aptos" panose="020B0004020202020204" pitchFamily="34" charset="0"/>
              </a:rPr>
              <a:t>19 DTE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DCBD71-5617-DB61-8396-37412F731CA0}"/>
              </a:ext>
            </a:extLst>
          </p:cNvPr>
          <p:cNvSpPr txBox="1"/>
          <p:nvPr/>
        </p:nvSpPr>
        <p:spPr>
          <a:xfrm>
            <a:off x="6766560" y="5394960"/>
            <a:ext cx="7680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F7FB"/>
                </a:solidFill>
                <a:latin typeface="Aptos" panose="020B0004020202020204" pitchFamily="34" charset="0"/>
              </a:rPr>
              <a:t>23 DTE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70C4719-67BE-B3D9-B2B5-801796EE6158}"/>
              </a:ext>
            </a:extLst>
          </p:cNvPr>
          <p:cNvCxnSpPr/>
          <p:nvPr/>
        </p:nvCxnSpPr>
        <p:spPr>
          <a:xfrm>
            <a:off x="1115568" y="5916168"/>
            <a:ext cx="256032" cy="0"/>
          </a:xfrm>
          <a:prstGeom prst="line">
            <a:avLst/>
          </a:prstGeom>
          <a:ln w="3429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32E0895-A6A6-1BD9-2808-06C8D4FDE5CB}"/>
              </a:ext>
            </a:extLst>
          </p:cNvPr>
          <p:cNvSpPr txBox="1"/>
          <p:nvPr/>
        </p:nvSpPr>
        <p:spPr>
          <a:xfrm>
            <a:off x="1435608" y="5806440"/>
            <a:ext cx="65836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 b="1">
                <a:solidFill>
                  <a:srgbClr val="8DA2B8"/>
                </a:solidFill>
                <a:latin typeface="Aptos" panose="020B0004020202020204" pitchFamily="34" charset="0"/>
              </a:rPr>
              <a:t>+150%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B835A33-C928-0C00-5DE9-3561B28FC00F}"/>
              </a:ext>
            </a:extLst>
          </p:cNvPr>
          <p:cNvCxnSpPr/>
          <p:nvPr/>
        </p:nvCxnSpPr>
        <p:spPr>
          <a:xfrm>
            <a:off x="2286000" y="5916168"/>
            <a:ext cx="256032" cy="0"/>
          </a:xfrm>
          <a:prstGeom prst="line">
            <a:avLst/>
          </a:prstGeom>
          <a:ln w="3429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446F95A-D09E-1E52-DA89-A33536967C2B}"/>
              </a:ext>
            </a:extLst>
          </p:cNvPr>
          <p:cNvSpPr txBox="1"/>
          <p:nvPr/>
        </p:nvSpPr>
        <p:spPr>
          <a:xfrm>
            <a:off x="2606040" y="5806440"/>
            <a:ext cx="65836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 b="1">
                <a:solidFill>
                  <a:srgbClr val="8DA2B8"/>
                </a:solidFill>
                <a:latin typeface="Aptos" panose="020B0004020202020204" pitchFamily="34" charset="0"/>
              </a:rPr>
              <a:t>+200%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741872A-24CE-3EBB-D124-C8C7F94D435B}"/>
              </a:ext>
            </a:extLst>
          </p:cNvPr>
          <p:cNvCxnSpPr/>
          <p:nvPr/>
        </p:nvCxnSpPr>
        <p:spPr>
          <a:xfrm>
            <a:off x="3456432" y="5916168"/>
            <a:ext cx="256032" cy="0"/>
          </a:xfrm>
          <a:prstGeom prst="line">
            <a:avLst/>
          </a:prstGeom>
          <a:ln w="34290" cap="flat" cmpd="sng" algn="ctr">
            <a:solidFill>
              <a:srgbClr val="F4B9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930D44D-24CE-F01D-6CA8-EB14BD64270B}"/>
              </a:ext>
            </a:extLst>
          </p:cNvPr>
          <p:cNvSpPr txBox="1"/>
          <p:nvPr/>
        </p:nvSpPr>
        <p:spPr>
          <a:xfrm>
            <a:off x="3776472" y="5806440"/>
            <a:ext cx="65836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 b="1">
                <a:solidFill>
                  <a:srgbClr val="8DA2B8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CE5F87-BE33-7C71-4E82-A2AC47B5E18F}"/>
              </a:ext>
            </a:extLst>
          </p:cNvPr>
          <p:cNvSpPr txBox="1"/>
          <p:nvPr/>
        </p:nvSpPr>
        <p:spPr>
          <a:xfrm>
            <a:off x="8686800" y="1527048"/>
            <a:ext cx="2331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WINNERS BY TARGET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22B277D-7E09-7FF9-3B72-DE30D7FBEEC3}"/>
              </a:ext>
            </a:extLst>
          </p:cNvPr>
          <p:cNvSpPr/>
          <p:nvPr/>
        </p:nvSpPr>
        <p:spPr>
          <a:xfrm>
            <a:off x="8595360" y="1901952"/>
            <a:ext cx="2980944" cy="896112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B035662-72C0-FBA5-04CE-1A80D682062E}"/>
              </a:ext>
            </a:extLst>
          </p:cNvPr>
          <p:cNvSpPr/>
          <p:nvPr/>
        </p:nvSpPr>
        <p:spPr>
          <a:xfrm>
            <a:off x="8787384" y="2057400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4FC36D-D364-476C-0E3D-08014A32C54A}"/>
              </a:ext>
            </a:extLst>
          </p:cNvPr>
          <p:cNvSpPr txBox="1"/>
          <p:nvPr/>
        </p:nvSpPr>
        <p:spPr>
          <a:xfrm>
            <a:off x="8787384" y="2057400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+150%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A535D5-9997-F994-0AC2-9AE530EC43BD}"/>
              </a:ext>
            </a:extLst>
          </p:cNvPr>
          <p:cNvSpPr txBox="1"/>
          <p:nvPr/>
        </p:nvSpPr>
        <p:spPr>
          <a:xfrm>
            <a:off x="9610344" y="1993392"/>
            <a:ext cx="822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11 DTE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11DF73-B4B9-5B51-C3A2-8F3BD087864B}"/>
              </a:ext>
            </a:extLst>
          </p:cNvPr>
          <p:cNvSpPr txBox="1"/>
          <p:nvPr/>
        </p:nvSpPr>
        <p:spPr>
          <a:xfrm>
            <a:off x="10497312" y="1975104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400" b="1">
                <a:solidFill>
                  <a:srgbClr val="43D7E8"/>
                </a:solidFill>
                <a:latin typeface="Aptos" panose="020B0004020202020204" pitchFamily="34" charset="0"/>
              </a:rPr>
              <a:t>$46.52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276ECF-ACB8-400E-E754-0AA96CBC7E47}"/>
              </a:ext>
            </a:extLst>
          </p:cNvPr>
          <p:cNvSpPr txBox="1"/>
          <p:nvPr/>
        </p:nvSpPr>
        <p:spPr>
          <a:xfrm>
            <a:off x="9610344" y="2340864"/>
            <a:ext cx="167335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70">
                <a:solidFill>
                  <a:srgbClr val="8DA2B8"/>
                </a:solidFill>
                <a:latin typeface="Aptos" panose="020B0004020202020204" pitchFamily="34" charset="0"/>
              </a:rPr>
              <a:t>90.9% hit  |  PF 6.20  |  84h hold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BE36500-296A-CBFF-10C3-8A8BD88395EA}"/>
              </a:ext>
            </a:extLst>
          </p:cNvPr>
          <p:cNvSpPr/>
          <p:nvPr/>
        </p:nvSpPr>
        <p:spPr>
          <a:xfrm>
            <a:off x="8595360" y="2980944"/>
            <a:ext cx="2980944" cy="896112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5AB0C54-6379-0098-BEA0-BD4D103614E5}"/>
              </a:ext>
            </a:extLst>
          </p:cNvPr>
          <p:cNvSpPr/>
          <p:nvPr/>
        </p:nvSpPr>
        <p:spPr>
          <a:xfrm>
            <a:off x="8787384" y="3136392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89B902-E77F-1423-0A18-663B1DF28CF2}"/>
              </a:ext>
            </a:extLst>
          </p:cNvPr>
          <p:cNvSpPr txBox="1"/>
          <p:nvPr/>
        </p:nvSpPr>
        <p:spPr>
          <a:xfrm>
            <a:off x="8787384" y="3136392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4D399"/>
                </a:solidFill>
                <a:latin typeface="Aptos" panose="020B0004020202020204" pitchFamily="34" charset="0"/>
              </a:rPr>
              <a:t>+200%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2677F0-ECB3-09EB-344D-16AE9B467BC0}"/>
              </a:ext>
            </a:extLst>
          </p:cNvPr>
          <p:cNvSpPr txBox="1"/>
          <p:nvPr/>
        </p:nvSpPr>
        <p:spPr>
          <a:xfrm>
            <a:off x="9610344" y="3072384"/>
            <a:ext cx="822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11 DTE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ADF0DB-4259-A7C1-226B-74CDF7C30571}"/>
              </a:ext>
            </a:extLst>
          </p:cNvPr>
          <p:cNvSpPr txBox="1"/>
          <p:nvPr/>
        </p:nvSpPr>
        <p:spPr>
          <a:xfrm>
            <a:off x="10497312" y="3054096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400" b="1">
                <a:solidFill>
                  <a:srgbClr val="34D399"/>
                </a:solidFill>
                <a:latin typeface="Aptos" panose="020B0004020202020204" pitchFamily="34" charset="0"/>
              </a:rPr>
              <a:t>$58.64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C83B8D-04E4-007E-75CB-59DCA49B7945}"/>
              </a:ext>
            </a:extLst>
          </p:cNvPr>
          <p:cNvSpPr txBox="1"/>
          <p:nvPr/>
        </p:nvSpPr>
        <p:spPr>
          <a:xfrm>
            <a:off x="9610344" y="3419856"/>
            <a:ext cx="167335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70">
                <a:solidFill>
                  <a:srgbClr val="8DA2B8"/>
                </a:solidFill>
                <a:latin typeface="Aptos" panose="020B0004020202020204" pitchFamily="34" charset="0"/>
              </a:rPr>
              <a:t>84.8% hit  |  PF 6.03  |  97h hold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182DDA1-0EC4-18F1-13D5-31BF9551711D}"/>
              </a:ext>
            </a:extLst>
          </p:cNvPr>
          <p:cNvSpPr/>
          <p:nvPr/>
        </p:nvSpPr>
        <p:spPr>
          <a:xfrm>
            <a:off x="8595360" y="4059936"/>
            <a:ext cx="2980944" cy="896112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BC5AE4D-C7E8-B3AB-861F-31DFB03E4786}"/>
              </a:ext>
            </a:extLst>
          </p:cNvPr>
          <p:cNvSpPr/>
          <p:nvPr/>
        </p:nvSpPr>
        <p:spPr>
          <a:xfrm>
            <a:off x="8787384" y="4215384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E35716-B850-10ED-68D2-D30B401B8451}"/>
              </a:ext>
            </a:extLst>
          </p:cNvPr>
          <p:cNvSpPr txBox="1"/>
          <p:nvPr/>
        </p:nvSpPr>
        <p:spPr>
          <a:xfrm>
            <a:off x="8787384" y="4215384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86FAC8-E6C4-2616-2128-FEFD6C2D4546}"/>
              </a:ext>
            </a:extLst>
          </p:cNvPr>
          <p:cNvSpPr txBox="1"/>
          <p:nvPr/>
        </p:nvSpPr>
        <p:spPr>
          <a:xfrm>
            <a:off x="9610344" y="4151376"/>
            <a:ext cx="822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 b="1">
                <a:solidFill>
                  <a:srgbClr val="F4F7FB"/>
                </a:solidFill>
                <a:latin typeface="Aptos" panose="020B0004020202020204" pitchFamily="34" charset="0"/>
              </a:rPr>
              <a:t>15 DTE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47A95B-6BCD-0F1C-E640-B8093DA4EC10}"/>
              </a:ext>
            </a:extLst>
          </p:cNvPr>
          <p:cNvSpPr txBox="1"/>
          <p:nvPr/>
        </p:nvSpPr>
        <p:spPr>
          <a:xfrm>
            <a:off x="10497312" y="4133088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4B942"/>
                </a:solidFill>
                <a:latin typeface="Aptos" panose="020B0004020202020204" pitchFamily="34" charset="0"/>
              </a:rPr>
              <a:t>$79.24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7A5CFC-A472-77AD-39D8-102F205B7F1D}"/>
              </a:ext>
            </a:extLst>
          </p:cNvPr>
          <p:cNvSpPr txBox="1"/>
          <p:nvPr/>
        </p:nvSpPr>
        <p:spPr>
          <a:xfrm>
            <a:off x="9610344" y="4498848"/>
            <a:ext cx="167335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70">
                <a:solidFill>
                  <a:srgbClr val="8DA2B8"/>
                </a:solidFill>
                <a:latin typeface="Aptos" panose="020B0004020202020204" pitchFamily="34" charset="0"/>
              </a:rPr>
              <a:t>81.8% hit  |  PF 6.88  |  127h hold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B422DE9-E30C-986F-B55B-4AAA5D2C495E}"/>
              </a:ext>
            </a:extLst>
          </p:cNvPr>
          <p:cNvSpPr/>
          <p:nvPr/>
        </p:nvSpPr>
        <p:spPr>
          <a:xfrm>
            <a:off x="8595360" y="5285232"/>
            <a:ext cx="2980944" cy="6035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C478E4-A338-6AE6-6283-8CC5F4F5DCFC}"/>
              </a:ext>
            </a:extLst>
          </p:cNvPr>
          <p:cNvSpPr txBox="1"/>
          <p:nvPr/>
        </p:nvSpPr>
        <p:spPr>
          <a:xfrm>
            <a:off x="8796528" y="5431536"/>
            <a:ext cx="257860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50" b="1">
                <a:solidFill>
                  <a:srgbClr val="F4B942"/>
                </a:solidFill>
                <a:latin typeface="Aptos" panose="020B0004020202020204" pitchFamily="34" charset="0"/>
              </a:rPr>
              <a:t>Best overall: 15 DTE +300%.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1760410-BD9C-B731-9E3F-B624E5002383}"/>
              </a:ext>
            </a:extLst>
          </p:cNvPr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 cap="flat" cmpd="sng" algn="ctr">
            <a:solidFill>
              <a:srgbClr val="293A5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19A710-1A99-1785-044F-D12420044A57}"/>
              </a:ext>
            </a:extLst>
          </p:cNvPr>
          <p:cNvSpPr txBox="1"/>
          <p:nvPr/>
        </p:nvSpPr>
        <p:spPr>
          <a:xfrm>
            <a:off x="521208" y="6528816"/>
            <a:ext cx="7955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20">
                <a:solidFill>
                  <a:srgbClr val="51677F"/>
                </a:solidFill>
                <a:latin typeface="Aptos" panose="020B0004020202020204" pitchFamily="34" charset="0"/>
              </a:rPr>
              <a:t>Five-way matched population: 33 sessions where every tested DTE produced the same 20-wide entry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7C70AF-46C2-F97A-8131-A7AA0B08C5DD}"/>
              </a:ext>
            </a:extLst>
          </p:cNvPr>
          <p:cNvSpPr txBox="1"/>
          <p:nvPr/>
        </p:nvSpPr>
        <p:spPr>
          <a:xfrm>
            <a:off x="8549640" y="6528816"/>
            <a:ext cx="3108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00" b="1">
                <a:solidFill>
                  <a:srgbClr val="51677F"/>
                </a:solidFill>
                <a:latin typeface="Aptos" panose="020B0004020202020204" pitchFamily="34" charset="0"/>
              </a:rPr>
              <a:t>OPTION  SMITH  |  CRAFT YOUR TRADING EDGE</a:t>
            </a:r>
          </a:p>
        </p:txBody>
      </p:sp>
    </p:spTree>
    <p:extLst>
      <p:ext uri="{BB962C8B-B14F-4D97-AF65-F5344CB8AC3E}">
        <p14:creationId xmlns:p14="http://schemas.microsoft.com/office/powerpoint/2010/main" val="283237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BFD3D8-219F-B4ED-103E-90B16B72571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8EADA5-9F75-DDD6-4D4B-1AE901FDD541}"/>
              </a:ext>
            </a:extLst>
          </p:cNvPr>
          <p:cNvSpPr/>
          <p:nvPr/>
        </p:nvSpPr>
        <p:spPr>
          <a:xfrm>
            <a:off x="9646920" y="-123444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4B27E9-EF41-8BF9-9101-94CDF2536FD1}"/>
              </a:ext>
            </a:extLst>
          </p:cNvPr>
          <p:cNvSpPr/>
          <p:nvPr/>
        </p:nvSpPr>
        <p:spPr>
          <a:xfrm>
            <a:off x="-1234440" y="4800600"/>
            <a:ext cx="3108960" cy="3108960"/>
          </a:xfrm>
          <a:prstGeom prst="ellipse">
            <a:avLst/>
          </a:prstGeom>
          <a:solidFill>
            <a:srgbClr val="34D399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78AB08-2BF7-6B4C-5375-AC625CBC4006}"/>
              </a:ext>
            </a:extLst>
          </p:cNvPr>
          <p:cNvCxnSpPr/>
          <p:nvPr/>
        </p:nvCxnSpPr>
        <p:spPr>
          <a:xfrm>
            <a:off x="411480" y="164592"/>
            <a:ext cx="10515600" cy="0"/>
          </a:xfrm>
          <a:prstGeom prst="line">
            <a:avLst/>
          </a:prstGeom>
          <a:ln w="8890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431913B-2CA6-502A-FFFE-4A055F1F99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109728"/>
            <a:ext cx="713232" cy="713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8986E6-E417-6C30-619A-FC1FAA35CA34}"/>
              </a:ext>
            </a:extLst>
          </p:cNvPr>
          <p:cNvSpPr txBox="1"/>
          <p:nvPr/>
        </p:nvSpPr>
        <p:spPr>
          <a:xfrm>
            <a:off x="502920" y="164592"/>
            <a:ext cx="3383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EXIT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2B037-14C5-E133-0272-B90E24A0210D}"/>
              </a:ext>
            </a:extLst>
          </p:cNvPr>
          <p:cNvSpPr txBox="1"/>
          <p:nvPr/>
        </p:nvSpPr>
        <p:spPr>
          <a:xfrm>
            <a:off x="502920" y="475488"/>
            <a:ext cx="104241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600" b="1">
                <a:solidFill>
                  <a:srgbClr val="F4F7FB"/>
                </a:solidFill>
                <a:latin typeface="Aptos" panose="020B0004020202020204" pitchFamily="34" charset="0"/>
              </a:rPr>
              <a:t>LET THE 15-DTE TRADE REACH +300%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823F2-87C2-2FF8-1A5D-863564415017}"/>
              </a:ext>
            </a:extLst>
          </p:cNvPr>
          <p:cNvSpPr txBox="1"/>
          <p:nvPr/>
        </p:nvSpPr>
        <p:spPr>
          <a:xfrm>
            <a:off x="521208" y="969264"/>
            <a:ext cx="10058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>
                <a:solidFill>
                  <a:srgbClr val="8DA2B8"/>
                </a:solidFill>
                <a:latin typeface="Aptos" panose="020B0004020202020204" pitchFamily="34" charset="0"/>
              </a:rPr>
              <a:t>The larger target added substantial EV with almost no extra average holding time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3C9496-707D-6DFA-43FF-360EBD446DBE}"/>
              </a:ext>
            </a:extLst>
          </p:cNvPr>
          <p:cNvSpPr/>
          <p:nvPr/>
        </p:nvSpPr>
        <p:spPr>
          <a:xfrm>
            <a:off x="10469880" y="896112"/>
            <a:ext cx="62179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F6FA1-829E-90F5-99B3-38BC713E74A6}"/>
              </a:ext>
            </a:extLst>
          </p:cNvPr>
          <p:cNvSpPr txBox="1"/>
          <p:nvPr/>
        </p:nvSpPr>
        <p:spPr>
          <a:xfrm>
            <a:off x="10469880" y="896112"/>
            <a:ext cx="6217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03 / 05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977556-CF49-6646-9CEE-5C32D9F41A0F}"/>
              </a:ext>
            </a:extLst>
          </p:cNvPr>
          <p:cNvSpPr/>
          <p:nvPr/>
        </p:nvSpPr>
        <p:spPr>
          <a:xfrm>
            <a:off x="548640" y="1417320"/>
            <a:ext cx="7187184" cy="473659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A91E1-5791-2E65-AD26-A1CA97E5EEBA}"/>
              </a:ext>
            </a:extLst>
          </p:cNvPr>
          <p:cNvSpPr txBox="1"/>
          <p:nvPr/>
        </p:nvSpPr>
        <p:spPr>
          <a:xfrm>
            <a:off x="804672" y="1627632"/>
            <a:ext cx="32461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15 DTE TOTAL P/L BY PROFIT TARGET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D871A9-8722-0EBE-8451-941C08430D49}"/>
              </a:ext>
            </a:extLst>
          </p:cNvPr>
          <p:cNvCxnSpPr/>
          <p:nvPr/>
        </p:nvCxnSpPr>
        <p:spPr>
          <a:xfrm>
            <a:off x="932688" y="5303520"/>
            <a:ext cx="6428232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388D9F-56C1-8563-A5FC-86BF1D591D9E}"/>
              </a:ext>
            </a:extLst>
          </p:cNvPr>
          <p:cNvSpPr txBox="1"/>
          <p:nvPr/>
        </p:nvSpPr>
        <p:spPr>
          <a:xfrm>
            <a:off x="493776" y="5202936"/>
            <a:ext cx="4114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2A6C02-44B5-B4C3-A322-79A8D7C94E6A}"/>
              </a:ext>
            </a:extLst>
          </p:cNvPr>
          <p:cNvCxnSpPr/>
          <p:nvPr/>
        </p:nvCxnSpPr>
        <p:spPr>
          <a:xfrm>
            <a:off x="932688" y="4273296"/>
            <a:ext cx="6428232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320224-5BB9-3133-4687-E019275F4D89}"/>
              </a:ext>
            </a:extLst>
          </p:cNvPr>
          <p:cNvSpPr txBox="1"/>
          <p:nvPr/>
        </p:nvSpPr>
        <p:spPr>
          <a:xfrm>
            <a:off x="493776" y="4172712"/>
            <a:ext cx="4114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$1,000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544FC6-3125-C07B-4182-743CDD77EB12}"/>
              </a:ext>
            </a:extLst>
          </p:cNvPr>
          <p:cNvCxnSpPr/>
          <p:nvPr/>
        </p:nvCxnSpPr>
        <p:spPr>
          <a:xfrm>
            <a:off x="932688" y="3243072"/>
            <a:ext cx="6428232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A9E9655-31A1-05BB-2E3D-836EE5C1B18B}"/>
              </a:ext>
            </a:extLst>
          </p:cNvPr>
          <p:cNvSpPr txBox="1"/>
          <p:nvPr/>
        </p:nvSpPr>
        <p:spPr>
          <a:xfrm>
            <a:off x="493776" y="3142488"/>
            <a:ext cx="4114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$2,000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CAD2FC-1D86-0478-1E1A-DABB9AA630C7}"/>
              </a:ext>
            </a:extLst>
          </p:cNvPr>
          <p:cNvCxnSpPr/>
          <p:nvPr/>
        </p:nvCxnSpPr>
        <p:spPr>
          <a:xfrm>
            <a:off x="932688" y="2212848"/>
            <a:ext cx="6428232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4F43874-CBD3-D766-F193-F02B46AFC4AF}"/>
              </a:ext>
            </a:extLst>
          </p:cNvPr>
          <p:cNvSpPr txBox="1"/>
          <p:nvPr/>
        </p:nvSpPr>
        <p:spPr>
          <a:xfrm>
            <a:off x="493776" y="2112264"/>
            <a:ext cx="4114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30">
                <a:solidFill>
                  <a:srgbClr val="51677F"/>
                </a:solidFill>
                <a:latin typeface="Aptos" panose="020B0004020202020204" pitchFamily="34" charset="0"/>
              </a:rPr>
              <a:t>$3,000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D01C58-54D8-6050-3DE1-0AF05D4F9D27}"/>
              </a:ext>
            </a:extLst>
          </p:cNvPr>
          <p:cNvSpPr/>
          <p:nvPr/>
        </p:nvSpPr>
        <p:spPr>
          <a:xfrm>
            <a:off x="1353312" y="4118763"/>
            <a:ext cx="1005840" cy="1184757"/>
          </a:xfrm>
          <a:prstGeom prst="roundRect">
            <a:avLst/>
          </a:prstGeom>
          <a:solidFill>
            <a:srgbClr val="43D7E8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04689-2DAD-E0D1-4EEF-AD7814804C99}"/>
              </a:ext>
            </a:extLst>
          </p:cNvPr>
          <p:cNvSpPr txBox="1"/>
          <p:nvPr/>
        </p:nvSpPr>
        <p:spPr>
          <a:xfrm>
            <a:off x="1261872" y="3807866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$1,150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838FD-C78C-EC50-4A39-774BD88FA3BF}"/>
              </a:ext>
            </a:extLst>
          </p:cNvPr>
          <p:cNvSpPr txBox="1"/>
          <p:nvPr/>
        </p:nvSpPr>
        <p:spPr>
          <a:xfrm>
            <a:off x="1261872" y="5422392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F4F7FB"/>
                </a:solidFill>
                <a:latin typeface="Aptos" panose="020B0004020202020204" pitchFamily="34" charset="0"/>
              </a:rPr>
              <a:t>+150%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71DC6E4-DA9D-E12E-6DFE-00AF2676235D}"/>
              </a:ext>
            </a:extLst>
          </p:cNvPr>
          <p:cNvSpPr/>
          <p:nvPr/>
        </p:nvSpPr>
        <p:spPr>
          <a:xfrm>
            <a:off x="1316736" y="5742432"/>
            <a:ext cx="1078992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740678-A285-0F13-5585-F766566ECAEF}"/>
              </a:ext>
            </a:extLst>
          </p:cNvPr>
          <p:cNvSpPr txBox="1"/>
          <p:nvPr/>
        </p:nvSpPr>
        <p:spPr>
          <a:xfrm>
            <a:off x="1316736" y="5742432"/>
            <a:ext cx="10789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EV $35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0AE123-83AB-9948-A229-57A03A822605}"/>
              </a:ext>
            </a:extLst>
          </p:cNvPr>
          <p:cNvSpPr/>
          <p:nvPr/>
        </p:nvSpPr>
        <p:spPr>
          <a:xfrm>
            <a:off x="3401568" y="3706673"/>
            <a:ext cx="1005840" cy="1596847"/>
          </a:xfrm>
          <a:prstGeom prst="roundRect">
            <a:avLst/>
          </a:prstGeom>
          <a:solidFill>
            <a:srgbClr val="34D399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1A342A-5F11-C76F-D14A-F6CCB2416D31}"/>
              </a:ext>
            </a:extLst>
          </p:cNvPr>
          <p:cNvSpPr txBox="1"/>
          <p:nvPr/>
        </p:nvSpPr>
        <p:spPr>
          <a:xfrm>
            <a:off x="3310128" y="3395777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$1,550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86696-231E-8866-5FD8-13AFDC30B471}"/>
              </a:ext>
            </a:extLst>
          </p:cNvPr>
          <p:cNvSpPr txBox="1"/>
          <p:nvPr/>
        </p:nvSpPr>
        <p:spPr>
          <a:xfrm>
            <a:off x="3310128" y="5422392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F4F7FB"/>
                </a:solidFill>
                <a:latin typeface="Aptos" panose="020B0004020202020204" pitchFamily="34" charset="0"/>
              </a:rPr>
              <a:t>+200%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8C3CEEA-D4C1-1B5E-820D-B1C2DD16D9C8}"/>
              </a:ext>
            </a:extLst>
          </p:cNvPr>
          <p:cNvSpPr/>
          <p:nvPr/>
        </p:nvSpPr>
        <p:spPr>
          <a:xfrm>
            <a:off x="3364992" y="5742432"/>
            <a:ext cx="1078992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2049CE-3AD6-5C6A-6A1F-4C411D6E9165}"/>
              </a:ext>
            </a:extLst>
          </p:cNvPr>
          <p:cNvSpPr txBox="1"/>
          <p:nvPr/>
        </p:nvSpPr>
        <p:spPr>
          <a:xfrm>
            <a:off x="3364992" y="5742432"/>
            <a:ext cx="10789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4D399"/>
                </a:solidFill>
                <a:latin typeface="Aptos" panose="020B0004020202020204" pitchFamily="34" charset="0"/>
              </a:rPr>
              <a:t>EV $47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B83A3-B34D-4E5B-AB5B-32A089927B82}"/>
              </a:ext>
            </a:extLst>
          </p:cNvPr>
          <p:cNvSpPr/>
          <p:nvPr/>
        </p:nvSpPr>
        <p:spPr>
          <a:xfrm>
            <a:off x="5449824" y="2609484"/>
            <a:ext cx="1005840" cy="2694036"/>
          </a:xfrm>
          <a:prstGeom prst="roundRect">
            <a:avLst/>
          </a:prstGeom>
          <a:solidFill>
            <a:srgbClr val="F4B942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F18C0F-9B57-E018-4EE6-EDB2064C6188}"/>
              </a:ext>
            </a:extLst>
          </p:cNvPr>
          <p:cNvSpPr txBox="1"/>
          <p:nvPr/>
        </p:nvSpPr>
        <p:spPr>
          <a:xfrm>
            <a:off x="5358384" y="2298588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$2,615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35A59B-85F3-5205-9C79-5390FC0CB945}"/>
              </a:ext>
            </a:extLst>
          </p:cNvPr>
          <p:cNvSpPr txBox="1"/>
          <p:nvPr/>
        </p:nvSpPr>
        <p:spPr>
          <a:xfrm>
            <a:off x="5358384" y="5422392"/>
            <a:ext cx="1188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F4F7FB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080D31B-C27C-0235-0F34-83AA0051923C}"/>
              </a:ext>
            </a:extLst>
          </p:cNvPr>
          <p:cNvSpPr/>
          <p:nvPr/>
        </p:nvSpPr>
        <p:spPr>
          <a:xfrm>
            <a:off x="5413248" y="5742432"/>
            <a:ext cx="1078992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DA4A08-E830-6F25-A5ED-682FFDD4DDB6}"/>
              </a:ext>
            </a:extLst>
          </p:cNvPr>
          <p:cNvSpPr txBox="1"/>
          <p:nvPr/>
        </p:nvSpPr>
        <p:spPr>
          <a:xfrm>
            <a:off x="5413248" y="5742432"/>
            <a:ext cx="10789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EV $79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7618D-C2E6-DA45-0ED4-8EB627F36925}"/>
              </a:ext>
            </a:extLst>
          </p:cNvPr>
          <p:cNvSpPr txBox="1"/>
          <p:nvPr/>
        </p:nvSpPr>
        <p:spPr>
          <a:xfrm>
            <a:off x="8119872" y="1527048"/>
            <a:ext cx="21945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THE TRADE-OFF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3400BC-F278-6CDF-B66A-12B2BE05DED5}"/>
              </a:ext>
            </a:extLst>
          </p:cNvPr>
          <p:cNvSpPr/>
          <p:nvPr/>
        </p:nvSpPr>
        <p:spPr>
          <a:xfrm>
            <a:off x="8065008" y="1874520"/>
            <a:ext cx="3511296" cy="94183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4788C85-BC7C-6276-E8CE-B88D11A585F7}"/>
              </a:ext>
            </a:extLst>
          </p:cNvPr>
          <p:cNvSpPr/>
          <p:nvPr/>
        </p:nvSpPr>
        <p:spPr>
          <a:xfrm>
            <a:off x="8065008" y="1874520"/>
            <a:ext cx="73152" cy="941832"/>
          </a:xfrm>
          <a:prstGeom prst="roundRect">
            <a:avLst/>
          </a:prstGeom>
          <a:solidFill>
            <a:srgbClr val="43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0AC2A8-7E38-6286-FB32-1913D22831C4}"/>
              </a:ext>
            </a:extLst>
          </p:cNvPr>
          <p:cNvSpPr txBox="1"/>
          <p:nvPr/>
        </p:nvSpPr>
        <p:spPr>
          <a:xfrm>
            <a:off x="8302752" y="1965960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43D7E8"/>
                </a:solidFill>
                <a:latin typeface="Aptos" panose="020B0004020202020204" pitchFamily="34" charset="0"/>
              </a:rPr>
              <a:t>+150%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552932-1F99-B320-2F93-E936DDCAD016}"/>
              </a:ext>
            </a:extLst>
          </p:cNvPr>
          <p:cNvSpPr txBox="1"/>
          <p:nvPr/>
        </p:nvSpPr>
        <p:spPr>
          <a:xfrm>
            <a:off x="9454896" y="1956816"/>
            <a:ext cx="177393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500" b="1">
                <a:solidFill>
                  <a:srgbClr val="F4F7FB"/>
                </a:solidFill>
                <a:latin typeface="Aptos" panose="020B0004020202020204" pitchFamily="34" charset="0"/>
              </a:rPr>
              <a:t>EV $35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804B2-A2CF-38E7-B1CD-27FDC530C500}"/>
              </a:ext>
            </a:extLst>
          </p:cNvPr>
          <p:cNvSpPr txBox="1"/>
          <p:nvPr/>
        </p:nvSpPr>
        <p:spPr>
          <a:xfrm>
            <a:off x="8302752" y="2340864"/>
            <a:ext cx="2834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>
                <a:solidFill>
                  <a:srgbClr val="8DA2B8"/>
                </a:solidFill>
                <a:latin typeface="Aptos" panose="020B0004020202020204" pitchFamily="34" charset="0"/>
              </a:rPr>
              <a:t>84.8% hit  |  110h hold  |  DD -$390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6C02613-A061-5121-B1C9-3A010EBC0537}"/>
              </a:ext>
            </a:extLst>
          </p:cNvPr>
          <p:cNvSpPr/>
          <p:nvPr/>
        </p:nvSpPr>
        <p:spPr>
          <a:xfrm>
            <a:off x="10725912" y="2532888"/>
            <a:ext cx="603504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0D3272-415B-807F-5E44-6060568AC6A2}"/>
              </a:ext>
            </a:extLst>
          </p:cNvPr>
          <p:cNvSpPr txBox="1"/>
          <p:nvPr/>
        </p:nvSpPr>
        <p:spPr>
          <a:xfrm>
            <a:off x="10725912" y="2532888"/>
            <a:ext cx="60350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PF 3.95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12C8904-E569-C601-7A8F-1882FA6F98B6}"/>
              </a:ext>
            </a:extLst>
          </p:cNvPr>
          <p:cNvSpPr/>
          <p:nvPr/>
        </p:nvSpPr>
        <p:spPr>
          <a:xfrm>
            <a:off x="8065008" y="3017520"/>
            <a:ext cx="3511296" cy="94183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31F1F89-0230-2605-8619-B8AF0A9A64B7}"/>
              </a:ext>
            </a:extLst>
          </p:cNvPr>
          <p:cNvSpPr/>
          <p:nvPr/>
        </p:nvSpPr>
        <p:spPr>
          <a:xfrm>
            <a:off x="8065008" y="3017520"/>
            <a:ext cx="73152" cy="941832"/>
          </a:xfrm>
          <a:prstGeom prst="roundRect">
            <a:avLst/>
          </a:prstGeom>
          <a:solidFill>
            <a:srgbClr val="34D3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FFE1A0-2A34-9E8F-81EB-090EFD5D6572}"/>
              </a:ext>
            </a:extLst>
          </p:cNvPr>
          <p:cNvSpPr txBox="1"/>
          <p:nvPr/>
        </p:nvSpPr>
        <p:spPr>
          <a:xfrm>
            <a:off x="8302752" y="3108960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34D399"/>
                </a:solidFill>
                <a:latin typeface="Aptos" panose="020B0004020202020204" pitchFamily="34" charset="0"/>
              </a:rPr>
              <a:t>+200%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C2F8DA-CAAE-C536-23E1-14EB2E16CABF}"/>
              </a:ext>
            </a:extLst>
          </p:cNvPr>
          <p:cNvSpPr txBox="1"/>
          <p:nvPr/>
        </p:nvSpPr>
        <p:spPr>
          <a:xfrm>
            <a:off x="9454896" y="3099816"/>
            <a:ext cx="177393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500" b="1">
                <a:solidFill>
                  <a:srgbClr val="F4F7FB"/>
                </a:solidFill>
                <a:latin typeface="Aptos" panose="020B0004020202020204" pitchFamily="34" charset="0"/>
              </a:rPr>
              <a:t>EV $47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7EF128-7515-EA62-DE31-02EA96D746C8}"/>
              </a:ext>
            </a:extLst>
          </p:cNvPr>
          <p:cNvSpPr txBox="1"/>
          <p:nvPr/>
        </p:nvSpPr>
        <p:spPr>
          <a:xfrm>
            <a:off x="8302752" y="3483864"/>
            <a:ext cx="2834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>
                <a:solidFill>
                  <a:srgbClr val="8DA2B8"/>
                </a:solidFill>
                <a:latin typeface="Aptos" panose="020B0004020202020204" pitchFamily="34" charset="0"/>
              </a:rPr>
              <a:t>81.8% hit  |  122h hold  |  DD -$445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6CD2609-4401-B5B1-ECE6-CA952D21DC3D}"/>
              </a:ext>
            </a:extLst>
          </p:cNvPr>
          <p:cNvSpPr/>
          <p:nvPr/>
        </p:nvSpPr>
        <p:spPr>
          <a:xfrm>
            <a:off x="10725912" y="3675888"/>
            <a:ext cx="603504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9B2901-1960-0B9E-55BC-5192232DDF50}"/>
              </a:ext>
            </a:extLst>
          </p:cNvPr>
          <p:cNvSpPr txBox="1"/>
          <p:nvPr/>
        </p:nvSpPr>
        <p:spPr>
          <a:xfrm>
            <a:off x="10725912" y="3675888"/>
            <a:ext cx="60350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4D399"/>
                </a:solidFill>
                <a:latin typeface="Aptos" panose="020B0004020202020204" pitchFamily="34" charset="0"/>
              </a:rPr>
              <a:t>PF 4.48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EFC6A0F-F92B-5FF7-FF9A-FA2282DF7FAB}"/>
              </a:ext>
            </a:extLst>
          </p:cNvPr>
          <p:cNvSpPr/>
          <p:nvPr/>
        </p:nvSpPr>
        <p:spPr>
          <a:xfrm>
            <a:off x="8065008" y="4160520"/>
            <a:ext cx="3511296" cy="94183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0B658A3-3B08-86FD-CFEB-1774D4C1CFAE}"/>
              </a:ext>
            </a:extLst>
          </p:cNvPr>
          <p:cNvSpPr/>
          <p:nvPr/>
        </p:nvSpPr>
        <p:spPr>
          <a:xfrm>
            <a:off x="8065008" y="4160520"/>
            <a:ext cx="73152" cy="941832"/>
          </a:xfrm>
          <a:prstGeom prst="roundRect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B5F60D-8877-1999-5D0D-0846D8420A52}"/>
              </a:ext>
            </a:extLst>
          </p:cNvPr>
          <p:cNvSpPr txBox="1"/>
          <p:nvPr/>
        </p:nvSpPr>
        <p:spPr>
          <a:xfrm>
            <a:off x="8302752" y="4251960"/>
            <a:ext cx="7863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F4B942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72FA61-01B9-D689-A3E5-220EDE0A0781}"/>
              </a:ext>
            </a:extLst>
          </p:cNvPr>
          <p:cNvSpPr txBox="1"/>
          <p:nvPr/>
        </p:nvSpPr>
        <p:spPr>
          <a:xfrm>
            <a:off x="9454896" y="4242816"/>
            <a:ext cx="177393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1500" b="1">
                <a:solidFill>
                  <a:srgbClr val="F4F7FB"/>
                </a:solidFill>
                <a:latin typeface="Aptos" panose="020B0004020202020204" pitchFamily="34" charset="0"/>
              </a:rPr>
              <a:t>EV $79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1991DA-CF56-57D0-BA9A-8B7C0B65FB3C}"/>
              </a:ext>
            </a:extLst>
          </p:cNvPr>
          <p:cNvSpPr txBox="1"/>
          <p:nvPr/>
        </p:nvSpPr>
        <p:spPr>
          <a:xfrm>
            <a:off x="8302752" y="4626864"/>
            <a:ext cx="2834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30">
                <a:solidFill>
                  <a:srgbClr val="8DA2B8"/>
                </a:solidFill>
                <a:latin typeface="Aptos" panose="020B0004020202020204" pitchFamily="34" charset="0"/>
              </a:rPr>
              <a:t>81.8% hit  |  127h hold  |  DD -$445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AF77484-2781-37D3-5A11-0F28BA2B4395}"/>
              </a:ext>
            </a:extLst>
          </p:cNvPr>
          <p:cNvSpPr/>
          <p:nvPr/>
        </p:nvSpPr>
        <p:spPr>
          <a:xfrm>
            <a:off x="10725912" y="4818888"/>
            <a:ext cx="603504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95997E-BEA8-48C1-ED2C-51DD9595C9FB}"/>
              </a:ext>
            </a:extLst>
          </p:cNvPr>
          <p:cNvSpPr txBox="1"/>
          <p:nvPr/>
        </p:nvSpPr>
        <p:spPr>
          <a:xfrm>
            <a:off x="10725912" y="4818888"/>
            <a:ext cx="60350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PF 6.88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A85105F-AE8F-6D9B-C118-10D105620064}"/>
              </a:ext>
            </a:extLst>
          </p:cNvPr>
          <p:cNvSpPr/>
          <p:nvPr/>
        </p:nvSpPr>
        <p:spPr>
          <a:xfrm>
            <a:off x="8065008" y="5394960"/>
            <a:ext cx="3511296" cy="603504"/>
          </a:xfrm>
          <a:prstGeom prst="roundRect">
            <a:avLst/>
          </a:prstGeom>
          <a:solidFill>
            <a:srgbClr val="0E1725"/>
          </a:solidFill>
          <a:ln w="1524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3A8D28-1DC6-EE10-FB7F-7BBB02554DA3}"/>
              </a:ext>
            </a:extLst>
          </p:cNvPr>
          <p:cNvSpPr txBox="1"/>
          <p:nvPr/>
        </p:nvSpPr>
        <p:spPr>
          <a:xfrm>
            <a:off x="8247888" y="5522976"/>
            <a:ext cx="314553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4B942"/>
                </a:solidFill>
                <a:latin typeface="Aptos" panose="020B0004020202020204" pitchFamily="34" charset="0"/>
              </a:rPr>
              <a:t>+300% adds $1,065 and $32.27 EV vs +200%.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D58DA00-D8A5-9EBA-BA47-DF514937B0AE}"/>
              </a:ext>
            </a:extLst>
          </p:cNvPr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 cap="flat" cmpd="sng" algn="ctr">
            <a:solidFill>
              <a:srgbClr val="293A5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CA76920-F94F-3A84-7CB0-2FBE36126D2A}"/>
              </a:ext>
            </a:extLst>
          </p:cNvPr>
          <p:cNvSpPr txBox="1"/>
          <p:nvPr/>
        </p:nvSpPr>
        <p:spPr>
          <a:xfrm>
            <a:off x="521208" y="6528816"/>
            <a:ext cx="7955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20">
                <a:solidFill>
                  <a:srgbClr val="51677F"/>
                </a:solidFill>
                <a:latin typeface="Aptos" panose="020B0004020202020204" pitchFamily="34" charset="0"/>
              </a:rPr>
              <a:t>At 15 DTE, +300% kept the same 81.8% hit rate as +200% and added only about 5 average hours.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A52832-F1C0-E2F1-D8C7-4953DDDDC71B}"/>
              </a:ext>
            </a:extLst>
          </p:cNvPr>
          <p:cNvSpPr txBox="1"/>
          <p:nvPr/>
        </p:nvSpPr>
        <p:spPr>
          <a:xfrm>
            <a:off x="8549640" y="6528816"/>
            <a:ext cx="3108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00" b="1">
                <a:solidFill>
                  <a:srgbClr val="51677F"/>
                </a:solidFill>
                <a:latin typeface="Aptos" panose="020B0004020202020204" pitchFamily="34" charset="0"/>
              </a:rPr>
              <a:t>OPTION  SMITH  |  CRAFT YOUR TRADING EDGE</a:t>
            </a:r>
          </a:p>
        </p:txBody>
      </p:sp>
    </p:spTree>
    <p:extLst>
      <p:ext uri="{BB962C8B-B14F-4D97-AF65-F5344CB8AC3E}">
        <p14:creationId xmlns:p14="http://schemas.microsoft.com/office/powerpoint/2010/main" val="416969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1CD863-D61C-6FA9-E32D-0499F5410A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D602E3-5504-450D-3A22-74407CF0CC2B}"/>
              </a:ext>
            </a:extLst>
          </p:cNvPr>
          <p:cNvSpPr/>
          <p:nvPr/>
        </p:nvSpPr>
        <p:spPr>
          <a:xfrm>
            <a:off x="9646920" y="-123444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C4B1D4-1C8F-8789-4992-96D41F233854}"/>
              </a:ext>
            </a:extLst>
          </p:cNvPr>
          <p:cNvSpPr/>
          <p:nvPr/>
        </p:nvSpPr>
        <p:spPr>
          <a:xfrm>
            <a:off x="-1234440" y="4800600"/>
            <a:ext cx="3108960" cy="3108960"/>
          </a:xfrm>
          <a:prstGeom prst="ellipse">
            <a:avLst/>
          </a:prstGeom>
          <a:solidFill>
            <a:srgbClr val="34D399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E2301-0DB9-1DDD-C102-891AA557F6F6}"/>
              </a:ext>
            </a:extLst>
          </p:cNvPr>
          <p:cNvCxnSpPr/>
          <p:nvPr/>
        </p:nvCxnSpPr>
        <p:spPr>
          <a:xfrm>
            <a:off x="411480" y="164592"/>
            <a:ext cx="10515600" cy="0"/>
          </a:xfrm>
          <a:prstGeom prst="line">
            <a:avLst/>
          </a:prstGeom>
          <a:ln w="8890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934CB24-9D48-77BC-84EF-938AE20A1E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109728"/>
            <a:ext cx="713232" cy="713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6E5C45-12E3-02ED-E7A2-B178180FAAB1}"/>
              </a:ext>
            </a:extLst>
          </p:cNvPr>
          <p:cNvSpPr txBox="1"/>
          <p:nvPr/>
        </p:nvSpPr>
        <p:spPr>
          <a:xfrm>
            <a:off x="502920" y="164592"/>
            <a:ext cx="3383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STRUCTURE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387D2-5C7F-D286-C23E-54EB8080505E}"/>
              </a:ext>
            </a:extLst>
          </p:cNvPr>
          <p:cNvSpPr txBox="1"/>
          <p:nvPr/>
        </p:nvSpPr>
        <p:spPr>
          <a:xfrm>
            <a:off x="502920" y="475488"/>
            <a:ext cx="104241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600" b="1">
                <a:solidFill>
                  <a:srgbClr val="F4F7FB"/>
                </a:solidFill>
                <a:latin typeface="Aptos" panose="020B0004020202020204" pitchFamily="34" charset="0"/>
              </a:rPr>
              <a:t>USE 20-POINT WINGS FOR THE PRIMARY TRADE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AE2BD8-DA3F-AC0E-371B-702149A76B26}"/>
              </a:ext>
            </a:extLst>
          </p:cNvPr>
          <p:cNvSpPr txBox="1"/>
          <p:nvPr/>
        </p:nvSpPr>
        <p:spPr>
          <a:xfrm>
            <a:off x="521208" y="969264"/>
            <a:ext cx="10058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>
                <a:solidFill>
                  <a:srgbClr val="8DA2B8"/>
                </a:solidFill>
                <a:latin typeface="Aptos" panose="020B0004020202020204" pitchFamily="34" charset="0"/>
              </a:rPr>
              <a:t>Completed sweep: 20 wide delivered the best profit-factor and drawdown efficiency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CE27B7-606A-CBC1-6805-96EC9149A673}"/>
              </a:ext>
            </a:extLst>
          </p:cNvPr>
          <p:cNvSpPr/>
          <p:nvPr/>
        </p:nvSpPr>
        <p:spPr>
          <a:xfrm>
            <a:off x="10469880" y="896112"/>
            <a:ext cx="62179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22260-4E00-B79A-4285-16AA5E796E46}"/>
              </a:ext>
            </a:extLst>
          </p:cNvPr>
          <p:cNvSpPr txBox="1"/>
          <p:nvPr/>
        </p:nvSpPr>
        <p:spPr>
          <a:xfrm>
            <a:off x="10469880" y="896112"/>
            <a:ext cx="6217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04 / 05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7D39C1-7A67-E129-7B82-AF11C2E317A5}"/>
              </a:ext>
            </a:extLst>
          </p:cNvPr>
          <p:cNvSpPr/>
          <p:nvPr/>
        </p:nvSpPr>
        <p:spPr>
          <a:xfrm>
            <a:off x="548640" y="1417320"/>
            <a:ext cx="7589520" cy="4800600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519148-AB02-BF2F-4746-C3D7AF39B52E}"/>
              </a:ext>
            </a:extLst>
          </p:cNvPr>
          <p:cNvSpPr txBox="1"/>
          <p:nvPr/>
        </p:nvSpPr>
        <p:spPr>
          <a:xfrm>
            <a:off x="804672" y="1609344"/>
            <a:ext cx="2926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TOTAL P/L BY WING WIDTH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A6573C-2211-636D-91D6-58E29CF0F766}"/>
              </a:ext>
            </a:extLst>
          </p:cNvPr>
          <p:cNvCxnSpPr/>
          <p:nvPr/>
        </p:nvCxnSpPr>
        <p:spPr>
          <a:xfrm>
            <a:off x="987552" y="5285232"/>
            <a:ext cx="6739128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075541-C454-C4E5-7010-81ADBDCE9E59}"/>
              </a:ext>
            </a:extLst>
          </p:cNvPr>
          <p:cNvSpPr txBox="1"/>
          <p:nvPr/>
        </p:nvSpPr>
        <p:spPr>
          <a:xfrm>
            <a:off x="521208" y="5184648"/>
            <a:ext cx="4389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50">
                <a:solidFill>
                  <a:srgbClr val="51677F"/>
                </a:solidFill>
                <a:latin typeface="Aptos" panose="020B0004020202020204" pitchFamily="34" charset="0"/>
              </a:rPr>
              <a:t>$0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050D9D-AC43-1B24-5A4D-A3A6EB991ED6}"/>
              </a:ext>
            </a:extLst>
          </p:cNvPr>
          <p:cNvCxnSpPr/>
          <p:nvPr/>
        </p:nvCxnSpPr>
        <p:spPr>
          <a:xfrm>
            <a:off x="987552" y="4200144"/>
            <a:ext cx="6739128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496768-103D-C872-969A-88E2C407B24D}"/>
              </a:ext>
            </a:extLst>
          </p:cNvPr>
          <p:cNvSpPr txBox="1"/>
          <p:nvPr/>
        </p:nvSpPr>
        <p:spPr>
          <a:xfrm>
            <a:off x="521208" y="4099560"/>
            <a:ext cx="4389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50">
                <a:solidFill>
                  <a:srgbClr val="51677F"/>
                </a:solidFill>
                <a:latin typeface="Aptos" panose="020B0004020202020204" pitchFamily="34" charset="0"/>
              </a:rPr>
              <a:t>$2,500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C59C7E-C353-B345-66C7-A871A241EFA0}"/>
              </a:ext>
            </a:extLst>
          </p:cNvPr>
          <p:cNvCxnSpPr/>
          <p:nvPr/>
        </p:nvCxnSpPr>
        <p:spPr>
          <a:xfrm>
            <a:off x="987552" y="3115056"/>
            <a:ext cx="6739128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2D54AE-C072-4486-F261-BC41F07B7270}"/>
              </a:ext>
            </a:extLst>
          </p:cNvPr>
          <p:cNvSpPr txBox="1"/>
          <p:nvPr/>
        </p:nvSpPr>
        <p:spPr>
          <a:xfrm>
            <a:off x="521208" y="3014472"/>
            <a:ext cx="4389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50">
                <a:solidFill>
                  <a:srgbClr val="51677F"/>
                </a:solidFill>
                <a:latin typeface="Aptos" panose="020B0004020202020204" pitchFamily="34" charset="0"/>
              </a:rPr>
              <a:t>$5,000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8A2171-E0E0-56F6-D488-0CB47B0BF7C7}"/>
              </a:ext>
            </a:extLst>
          </p:cNvPr>
          <p:cNvCxnSpPr/>
          <p:nvPr/>
        </p:nvCxnSpPr>
        <p:spPr>
          <a:xfrm>
            <a:off x="987552" y="2029968"/>
            <a:ext cx="6739128" cy="0"/>
          </a:xfrm>
          <a:prstGeom prst="line">
            <a:avLst/>
          </a:prstGeom>
          <a:ln w="8255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FE07D67-8202-AC0D-661D-DB3389CC20AA}"/>
              </a:ext>
            </a:extLst>
          </p:cNvPr>
          <p:cNvSpPr txBox="1"/>
          <p:nvPr/>
        </p:nvSpPr>
        <p:spPr>
          <a:xfrm>
            <a:off x="521208" y="1929384"/>
            <a:ext cx="4389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50">
                <a:solidFill>
                  <a:srgbClr val="51677F"/>
                </a:solidFill>
                <a:latin typeface="Aptos" panose="020B0004020202020204" pitchFamily="34" charset="0"/>
              </a:rPr>
              <a:t>$7,500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5D2991-7070-7B15-2D2E-B63D2434B0CE}"/>
              </a:ext>
            </a:extLst>
          </p:cNvPr>
          <p:cNvSpPr/>
          <p:nvPr/>
        </p:nvSpPr>
        <p:spPr>
          <a:xfrm>
            <a:off x="1147572" y="3469197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DA49B5-EE7D-2503-031E-5942838CE956}"/>
              </a:ext>
            </a:extLst>
          </p:cNvPr>
          <p:cNvCxnSpPr/>
          <p:nvPr/>
        </p:nvCxnSpPr>
        <p:spPr>
          <a:xfrm flipV="1">
            <a:off x="1225296" y="2796040"/>
            <a:ext cx="987552" cy="750881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0F5E4CD-FF7B-2ECA-DD3D-D41F58ED1459}"/>
              </a:ext>
            </a:extLst>
          </p:cNvPr>
          <p:cNvSpPr/>
          <p:nvPr/>
        </p:nvSpPr>
        <p:spPr>
          <a:xfrm>
            <a:off x="2135124" y="2718316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DCA69B-069D-943B-6619-87A0F3647928}"/>
              </a:ext>
            </a:extLst>
          </p:cNvPr>
          <p:cNvCxnSpPr/>
          <p:nvPr/>
        </p:nvCxnSpPr>
        <p:spPr>
          <a:xfrm flipV="1">
            <a:off x="2212848" y="2337048"/>
            <a:ext cx="987552" cy="458992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1AF6D8A-25ED-84CC-5135-414B335CC037}"/>
              </a:ext>
            </a:extLst>
          </p:cNvPr>
          <p:cNvSpPr/>
          <p:nvPr/>
        </p:nvSpPr>
        <p:spPr>
          <a:xfrm>
            <a:off x="3122676" y="2259324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710175-0382-1379-CE49-2C8FFCE660D6}"/>
              </a:ext>
            </a:extLst>
          </p:cNvPr>
          <p:cNvCxnSpPr/>
          <p:nvPr/>
        </p:nvCxnSpPr>
        <p:spPr>
          <a:xfrm>
            <a:off x="3200400" y="2337048"/>
            <a:ext cx="987552" cy="824124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C871396-74A1-47FF-420A-32FF3EC8A22D}"/>
              </a:ext>
            </a:extLst>
          </p:cNvPr>
          <p:cNvSpPr/>
          <p:nvPr/>
        </p:nvSpPr>
        <p:spPr>
          <a:xfrm>
            <a:off x="4110228" y="3083448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A5DC85-4F27-1701-1A86-1C4DF7705A95}"/>
              </a:ext>
            </a:extLst>
          </p:cNvPr>
          <p:cNvCxnSpPr/>
          <p:nvPr/>
        </p:nvCxnSpPr>
        <p:spPr>
          <a:xfrm>
            <a:off x="4187952" y="3161172"/>
            <a:ext cx="987552" cy="653223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1C407F3-69AD-061F-CF78-ED46C7EE103F}"/>
              </a:ext>
            </a:extLst>
          </p:cNvPr>
          <p:cNvSpPr/>
          <p:nvPr/>
        </p:nvSpPr>
        <p:spPr>
          <a:xfrm>
            <a:off x="5097780" y="3736671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39C05B2-17D6-C2B0-3702-43568A7FDF92}"/>
              </a:ext>
            </a:extLst>
          </p:cNvPr>
          <p:cNvCxnSpPr/>
          <p:nvPr/>
        </p:nvCxnSpPr>
        <p:spPr>
          <a:xfrm>
            <a:off x="5175504" y="3814395"/>
            <a:ext cx="987552" cy="243603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5E7C61C-F690-9092-6E27-C6A87308AB90}"/>
              </a:ext>
            </a:extLst>
          </p:cNvPr>
          <p:cNvSpPr/>
          <p:nvPr/>
        </p:nvSpPr>
        <p:spPr>
          <a:xfrm>
            <a:off x="6085332" y="3980273"/>
            <a:ext cx="155448" cy="155448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EFEAD6-8C85-65DA-80A0-3CBA5C67FCF2}"/>
              </a:ext>
            </a:extLst>
          </p:cNvPr>
          <p:cNvCxnSpPr/>
          <p:nvPr/>
        </p:nvCxnSpPr>
        <p:spPr>
          <a:xfrm>
            <a:off x="6163056" y="4057998"/>
            <a:ext cx="987552" cy="573469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3AC4489-1D48-DD08-DA0F-DF0956532363}"/>
              </a:ext>
            </a:extLst>
          </p:cNvPr>
          <p:cNvSpPr/>
          <p:nvPr/>
        </p:nvSpPr>
        <p:spPr>
          <a:xfrm>
            <a:off x="7072884" y="4553743"/>
            <a:ext cx="155448" cy="155447"/>
          </a:xfrm>
          <a:prstGeom prst="ellipse">
            <a:avLst/>
          </a:prstGeom>
          <a:solidFill>
            <a:srgbClr val="43D7E8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D627D25-C832-AF9E-FF23-874A156DCBCE}"/>
              </a:ext>
            </a:extLst>
          </p:cNvPr>
          <p:cNvSpPr/>
          <p:nvPr/>
        </p:nvSpPr>
        <p:spPr>
          <a:xfrm>
            <a:off x="1147572" y="2631509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2C2202-A3FA-4E8B-8B11-A00ED328981F}"/>
              </a:ext>
            </a:extLst>
          </p:cNvPr>
          <p:cNvCxnSpPr/>
          <p:nvPr/>
        </p:nvCxnSpPr>
        <p:spPr>
          <a:xfrm flipV="1">
            <a:off x="1225296" y="2437961"/>
            <a:ext cx="987552" cy="271272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6EB6824-FFFC-CC85-92CF-641FD7234A2E}"/>
              </a:ext>
            </a:extLst>
          </p:cNvPr>
          <p:cNvSpPr/>
          <p:nvPr/>
        </p:nvSpPr>
        <p:spPr>
          <a:xfrm>
            <a:off x="2135124" y="2360237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7A30D13-17F5-ACA3-A74E-DEC6F0E56D36}"/>
              </a:ext>
            </a:extLst>
          </p:cNvPr>
          <p:cNvCxnSpPr/>
          <p:nvPr/>
        </p:nvCxnSpPr>
        <p:spPr>
          <a:xfrm>
            <a:off x="2212848" y="2437961"/>
            <a:ext cx="987552" cy="452482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10060896-0AA2-48F0-D6E9-96DC20E3FBBA}"/>
              </a:ext>
            </a:extLst>
          </p:cNvPr>
          <p:cNvSpPr/>
          <p:nvPr/>
        </p:nvSpPr>
        <p:spPr>
          <a:xfrm>
            <a:off x="3122676" y="2812719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25C9C74-3546-767D-C831-14B5AA73FCB6}"/>
              </a:ext>
            </a:extLst>
          </p:cNvPr>
          <p:cNvCxnSpPr/>
          <p:nvPr/>
        </p:nvCxnSpPr>
        <p:spPr>
          <a:xfrm>
            <a:off x="3200400" y="2890443"/>
            <a:ext cx="987552" cy="116104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00120A92-EDB1-32AD-5B91-BCF9C0B3980A}"/>
              </a:ext>
            </a:extLst>
          </p:cNvPr>
          <p:cNvSpPr/>
          <p:nvPr/>
        </p:nvSpPr>
        <p:spPr>
          <a:xfrm>
            <a:off x="4110228" y="2928823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9DD8AE-F446-E3FF-F951-59F33DF58E07}"/>
              </a:ext>
            </a:extLst>
          </p:cNvPr>
          <p:cNvCxnSpPr/>
          <p:nvPr/>
        </p:nvCxnSpPr>
        <p:spPr>
          <a:xfrm>
            <a:off x="4187952" y="3006547"/>
            <a:ext cx="987552" cy="1207703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D6F5858F-1837-8703-D96B-2CF6E0B28D03}"/>
              </a:ext>
            </a:extLst>
          </p:cNvPr>
          <p:cNvSpPr/>
          <p:nvPr/>
        </p:nvSpPr>
        <p:spPr>
          <a:xfrm>
            <a:off x="5097780" y="4136526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F00657-1097-5606-368E-B25206371C4A}"/>
              </a:ext>
            </a:extLst>
          </p:cNvPr>
          <p:cNvCxnSpPr/>
          <p:nvPr/>
        </p:nvCxnSpPr>
        <p:spPr>
          <a:xfrm>
            <a:off x="5175504" y="4214250"/>
            <a:ext cx="987552" cy="747626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C795F604-EE80-CB2C-C517-FB872B98A205}"/>
              </a:ext>
            </a:extLst>
          </p:cNvPr>
          <p:cNvSpPr/>
          <p:nvPr/>
        </p:nvSpPr>
        <p:spPr>
          <a:xfrm>
            <a:off x="6085332" y="4884152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C5FE68-8ACF-E5B9-F3E5-6B69AD8F0CEF}"/>
              </a:ext>
            </a:extLst>
          </p:cNvPr>
          <p:cNvCxnSpPr/>
          <p:nvPr/>
        </p:nvCxnSpPr>
        <p:spPr>
          <a:xfrm flipV="1">
            <a:off x="6163056" y="4040636"/>
            <a:ext cx="987552" cy="921240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0873DD0-C6FA-C243-680E-98A7B83D98EE}"/>
              </a:ext>
            </a:extLst>
          </p:cNvPr>
          <p:cNvSpPr/>
          <p:nvPr/>
        </p:nvSpPr>
        <p:spPr>
          <a:xfrm>
            <a:off x="7072884" y="3962912"/>
            <a:ext cx="155448" cy="155448"/>
          </a:xfrm>
          <a:prstGeom prst="ellipse">
            <a:avLst/>
          </a:prstGeom>
          <a:solidFill>
            <a:srgbClr val="34D399"/>
          </a:solidFill>
          <a:ln w="15240">
            <a:solidFill>
              <a:srgbClr val="F4F7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321EA7-046B-F00A-F30A-3A77856025C0}"/>
              </a:ext>
            </a:extLst>
          </p:cNvPr>
          <p:cNvSpPr txBox="1"/>
          <p:nvPr/>
        </p:nvSpPr>
        <p:spPr>
          <a:xfrm>
            <a:off x="950976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C5E7D6-8342-022C-5D4E-3867EBFD6926}"/>
              </a:ext>
            </a:extLst>
          </p:cNvPr>
          <p:cNvSpPr txBox="1"/>
          <p:nvPr/>
        </p:nvSpPr>
        <p:spPr>
          <a:xfrm>
            <a:off x="1938528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AB7D3A-A470-CEAA-6054-CE5EFC23D744}"/>
              </a:ext>
            </a:extLst>
          </p:cNvPr>
          <p:cNvSpPr txBox="1"/>
          <p:nvPr/>
        </p:nvSpPr>
        <p:spPr>
          <a:xfrm>
            <a:off x="2926080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DB60C9-303D-6B4B-B9F6-A36ECD23D839}"/>
              </a:ext>
            </a:extLst>
          </p:cNvPr>
          <p:cNvSpPr txBox="1"/>
          <p:nvPr/>
        </p:nvSpPr>
        <p:spPr>
          <a:xfrm>
            <a:off x="3913632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D74229-B31A-4A8E-B944-08890C172F37}"/>
              </a:ext>
            </a:extLst>
          </p:cNvPr>
          <p:cNvSpPr txBox="1"/>
          <p:nvPr/>
        </p:nvSpPr>
        <p:spPr>
          <a:xfrm>
            <a:off x="4901184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F14E7D-0FE5-FF60-66FD-D6F5BCA55CC7}"/>
              </a:ext>
            </a:extLst>
          </p:cNvPr>
          <p:cNvSpPr txBox="1"/>
          <p:nvPr/>
        </p:nvSpPr>
        <p:spPr>
          <a:xfrm>
            <a:off x="5888736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109F73-7B7E-E622-3DB8-145B4E5B67EA}"/>
              </a:ext>
            </a:extLst>
          </p:cNvPr>
          <p:cNvSpPr txBox="1"/>
          <p:nvPr/>
        </p:nvSpPr>
        <p:spPr>
          <a:xfrm>
            <a:off x="6876288" y="5431536"/>
            <a:ext cx="548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50" b="1">
                <a:solidFill>
                  <a:srgbClr val="F4F7FB"/>
                </a:solidFill>
                <a:latin typeface="Aptos" panose="020B0004020202020204" pitchFamily="34" charset="0"/>
              </a:rPr>
              <a:t>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3A88DE-A89E-C2C6-284C-6B9700BCD11A}"/>
              </a:ext>
            </a:extLst>
          </p:cNvPr>
          <p:cNvSpPr txBox="1"/>
          <p:nvPr/>
        </p:nvSpPr>
        <p:spPr>
          <a:xfrm>
            <a:off x="2926080" y="5742432"/>
            <a:ext cx="27432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8DA2B8"/>
                </a:solidFill>
                <a:latin typeface="Aptos" panose="020B0004020202020204" pitchFamily="34" charset="0"/>
              </a:rPr>
              <a:t>WING WIDTH (SPX POINTS)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BB4441-75E4-6235-7718-67D4D240F1AE}"/>
              </a:ext>
            </a:extLst>
          </p:cNvPr>
          <p:cNvCxnSpPr/>
          <p:nvPr/>
        </p:nvCxnSpPr>
        <p:spPr>
          <a:xfrm>
            <a:off x="1024128" y="6007608"/>
            <a:ext cx="274320" cy="0"/>
          </a:xfrm>
          <a:prstGeom prst="line">
            <a:avLst/>
          </a:prstGeom>
          <a:ln w="31750" cap="flat" cmpd="sng" algn="ctr">
            <a:solidFill>
              <a:srgbClr val="43D7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0F1927D-7CDD-E261-EB0A-85482F9B5767}"/>
              </a:ext>
            </a:extLst>
          </p:cNvPr>
          <p:cNvSpPr txBox="1"/>
          <p:nvPr/>
        </p:nvSpPr>
        <p:spPr>
          <a:xfrm>
            <a:off x="1371600" y="5897880"/>
            <a:ext cx="5943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50" b="1">
                <a:solidFill>
                  <a:srgbClr val="8DA2B8"/>
                </a:solidFill>
                <a:latin typeface="Aptos" panose="020B0004020202020204" pitchFamily="34" charset="0"/>
              </a:rPr>
              <a:t>+150%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18F29D0-E0C5-5150-99DD-483B3E072CB2}"/>
              </a:ext>
            </a:extLst>
          </p:cNvPr>
          <p:cNvCxnSpPr/>
          <p:nvPr/>
        </p:nvCxnSpPr>
        <p:spPr>
          <a:xfrm>
            <a:off x="2167128" y="6007608"/>
            <a:ext cx="274320" cy="0"/>
          </a:xfrm>
          <a:prstGeom prst="line">
            <a:avLst/>
          </a:prstGeom>
          <a:ln w="31750" cap="flat" cmpd="sng" algn="ctr">
            <a:solidFill>
              <a:srgbClr val="34D3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20F0661-F1D8-BD8A-B5FB-183CBE8CB1CE}"/>
              </a:ext>
            </a:extLst>
          </p:cNvPr>
          <p:cNvSpPr txBox="1"/>
          <p:nvPr/>
        </p:nvSpPr>
        <p:spPr>
          <a:xfrm>
            <a:off x="2514600" y="5897880"/>
            <a:ext cx="5943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50" b="1">
                <a:solidFill>
                  <a:srgbClr val="8DA2B8"/>
                </a:solidFill>
                <a:latin typeface="Aptos" panose="020B0004020202020204" pitchFamily="34" charset="0"/>
              </a:rPr>
              <a:t>+200%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8D9AEA8-A1AC-FB3F-52DB-73981509BE5A}"/>
              </a:ext>
            </a:extLst>
          </p:cNvPr>
          <p:cNvSpPr/>
          <p:nvPr/>
        </p:nvSpPr>
        <p:spPr>
          <a:xfrm>
            <a:off x="3054096" y="2057400"/>
            <a:ext cx="1353312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89F613-E12E-DE42-CCA5-DE37A400E12C}"/>
              </a:ext>
            </a:extLst>
          </p:cNvPr>
          <p:cNvSpPr txBox="1"/>
          <p:nvPr/>
        </p:nvSpPr>
        <p:spPr>
          <a:xfrm>
            <a:off x="3054096" y="2057400"/>
            <a:ext cx="13533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+150% PEAK  $6,793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D6003FD-3B63-E7F1-4268-79D32A931ADE}"/>
              </a:ext>
            </a:extLst>
          </p:cNvPr>
          <p:cNvSpPr/>
          <p:nvPr/>
        </p:nvSpPr>
        <p:spPr>
          <a:xfrm>
            <a:off x="1426464" y="2404872"/>
            <a:ext cx="1353312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0ED9AC-8D62-274A-454D-91E03A45A236}"/>
              </a:ext>
            </a:extLst>
          </p:cNvPr>
          <p:cNvSpPr txBox="1"/>
          <p:nvPr/>
        </p:nvSpPr>
        <p:spPr>
          <a:xfrm>
            <a:off x="1426464" y="2404872"/>
            <a:ext cx="135331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4D399"/>
                </a:solidFill>
                <a:latin typeface="Aptos" panose="020B0004020202020204" pitchFamily="34" charset="0"/>
              </a:rPr>
              <a:t>+200% PEAK  $6,560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2D2A3D-CEBC-CACA-286B-A5FB8383AB3D}"/>
              </a:ext>
            </a:extLst>
          </p:cNvPr>
          <p:cNvSpPr txBox="1"/>
          <p:nvPr/>
        </p:nvSpPr>
        <p:spPr>
          <a:xfrm>
            <a:off x="8485632" y="1517904"/>
            <a:ext cx="25603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WHY 20 WIDE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64D753E-1BEE-F4EC-7442-9659671E0BA2}"/>
              </a:ext>
            </a:extLst>
          </p:cNvPr>
          <p:cNvSpPr/>
          <p:nvPr/>
        </p:nvSpPr>
        <p:spPr>
          <a:xfrm>
            <a:off x="8394192" y="1901952"/>
            <a:ext cx="3182112" cy="813816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D41489E-70E2-40AA-ABA8-B75DDE28F665}"/>
              </a:ext>
            </a:extLst>
          </p:cNvPr>
          <p:cNvSpPr/>
          <p:nvPr/>
        </p:nvSpPr>
        <p:spPr>
          <a:xfrm>
            <a:off x="8577072" y="2057400"/>
            <a:ext cx="69494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D47A9B-5D3F-2322-E292-BF18A6C476BA}"/>
              </a:ext>
            </a:extLst>
          </p:cNvPr>
          <p:cNvSpPr txBox="1"/>
          <p:nvPr/>
        </p:nvSpPr>
        <p:spPr>
          <a:xfrm>
            <a:off x="8577072" y="2057400"/>
            <a:ext cx="69494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20 WIDE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30BE69-9E4F-19F6-8F50-B97EFC14D413}"/>
              </a:ext>
            </a:extLst>
          </p:cNvPr>
          <p:cNvSpPr txBox="1"/>
          <p:nvPr/>
        </p:nvSpPr>
        <p:spPr>
          <a:xfrm>
            <a:off x="9400032" y="2002536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40" b="1">
                <a:solidFill>
                  <a:srgbClr val="F4F7FB"/>
                </a:solidFill>
                <a:latin typeface="Aptos" panose="020B0004020202020204" pitchFamily="34" charset="0"/>
              </a:rPr>
              <a:t>PRIMARY CHOICE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690698-099A-7BEE-8851-6E779723FDCC}"/>
              </a:ext>
            </a:extLst>
          </p:cNvPr>
          <p:cNvSpPr txBox="1"/>
          <p:nvPr/>
        </p:nvSpPr>
        <p:spPr>
          <a:xfrm>
            <a:off x="9400032" y="2313432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80">
                <a:solidFill>
                  <a:srgbClr val="8DA2B8"/>
                </a:solidFill>
                <a:latin typeface="Aptos" panose="020B0004020202020204" pitchFamily="34" charset="0"/>
              </a:rPr>
              <a:t>Best risk efficiency: PF 3.17  |  DD -$945  |  $67 average debit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C25AFA6-B393-1977-33FA-8C74DF552E5F}"/>
              </a:ext>
            </a:extLst>
          </p:cNvPr>
          <p:cNvSpPr/>
          <p:nvPr/>
        </p:nvSpPr>
        <p:spPr>
          <a:xfrm>
            <a:off x="8394192" y="2898648"/>
            <a:ext cx="3182112" cy="813816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9AA074F-79A3-8BF6-71FE-9D3D7E1F59C9}"/>
              </a:ext>
            </a:extLst>
          </p:cNvPr>
          <p:cNvSpPr/>
          <p:nvPr/>
        </p:nvSpPr>
        <p:spPr>
          <a:xfrm>
            <a:off x="8577072" y="3054096"/>
            <a:ext cx="69494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AF8C91-2D25-CDB9-526B-F18E7A3FAACB}"/>
              </a:ext>
            </a:extLst>
          </p:cNvPr>
          <p:cNvSpPr txBox="1"/>
          <p:nvPr/>
        </p:nvSpPr>
        <p:spPr>
          <a:xfrm>
            <a:off x="8577072" y="3054096"/>
            <a:ext cx="69494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25 WIDE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441DE5-43CC-CE8B-CAE7-DC2231147996}"/>
              </a:ext>
            </a:extLst>
          </p:cNvPr>
          <p:cNvSpPr txBox="1"/>
          <p:nvPr/>
        </p:nvSpPr>
        <p:spPr>
          <a:xfrm>
            <a:off x="9400032" y="2999232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40" b="1">
                <a:solidFill>
                  <a:srgbClr val="F4F7FB"/>
                </a:solidFill>
                <a:latin typeface="Aptos" panose="020B0004020202020204" pitchFamily="34" charset="0"/>
              </a:rPr>
              <a:t>BEST +200% P/L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0BB438-BE83-6F77-965A-BA9B35D28163}"/>
              </a:ext>
            </a:extLst>
          </p:cNvPr>
          <p:cNvSpPr txBox="1"/>
          <p:nvPr/>
        </p:nvSpPr>
        <p:spPr>
          <a:xfrm>
            <a:off x="9400032" y="3310128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80">
                <a:solidFill>
                  <a:srgbClr val="8DA2B8"/>
                </a:solidFill>
                <a:latin typeface="Aptos" panose="020B0004020202020204" pitchFamily="34" charset="0"/>
              </a:rPr>
              <a:t>$6,560 total  |  PF 2.41  |  DD -$1,870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5D6211E-C944-28ED-6939-39E5CEC5457F}"/>
              </a:ext>
            </a:extLst>
          </p:cNvPr>
          <p:cNvSpPr/>
          <p:nvPr/>
        </p:nvSpPr>
        <p:spPr>
          <a:xfrm>
            <a:off x="8394192" y="3895344"/>
            <a:ext cx="3182112" cy="813816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5219D4F-4A82-E413-DF45-119CD3117884}"/>
              </a:ext>
            </a:extLst>
          </p:cNvPr>
          <p:cNvSpPr/>
          <p:nvPr/>
        </p:nvSpPr>
        <p:spPr>
          <a:xfrm>
            <a:off x="8577072" y="4050792"/>
            <a:ext cx="69494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A8E5C3-7A3C-3602-4A70-D5C595573E43}"/>
              </a:ext>
            </a:extLst>
          </p:cNvPr>
          <p:cNvSpPr txBox="1"/>
          <p:nvPr/>
        </p:nvSpPr>
        <p:spPr>
          <a:xfrm>
            <a:off x="8577072" y="4050792"/>
            <a:ext cx="69494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30 WIDE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606D4B-42FB-5BA7-6D10-58D1356F92AA}"/>
              </a:ext>
            </a:extLst>
          </p:cNvPr>
          <p:cNvSpPr txBox="1"/>
          <p:nvPr/>
        </p:nvSpPr>
        <p:spPr>
          <a:xfrm>
            <a:off x="9400032" y="3995928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40" b="1">
                <a:solidFill>
                  <a:srgbClr val="F4F7FB"/>
                </a:solidFill>
                <a:latin typeface="Aptos" panose="020B0004020202020204" pitchFamily="34" charset="0"/>
              </a:rPr>
              <a:t>BEST +150% P/L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2C17B1-504F-DF29-2ABB-BFC35217280A}"/>
              </a:ext>
            </a:extLst>
          </p:cNvPr>
          <p:cNvSpPr txBox="1"/>
          <p:nvPr/>
        </p:nvSpPr>
        <p:spPr>
          <a:xfrm>
            <a:off x="9400032" y="4306824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80">
                <a:solidFill>
                  <a:srgbClr val="8DA2B8"/>
                </a:solidFill>
                <a:latin typeface="Aptos" panose="020B0004020202020204" pitchFamily="34" charset="0"/>
              </a:rPr>
              <a:t>$6,793 total  |  PF 2.16  |  DD -$1,926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0B5D077-F920-3960-98A5-D6F4CEA4F911}"/>
              </a:ext>
            </a:extLst>
          </p:cNvPr>
          <p:cNvSpPr/>
          <p:nvPr/>
        </p:nvSpPr>
        <p:spPr>
          <a:xfrm>
            <a:off x="8394192" y="4892040"/>
            <a:ext cx="3182112" cy="813816"/>
          </a:xfrm>
          <a:prstGeom prst="roundRect">
            <a:avLst/>
          </a:prstGeom>
          <a:solidFill>
            <a:srgbClr val="121B2A">
              <a:alpha val="98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C5E50FB-E760-7708-DAB0-8EE35D402FE7}"/>
              </a:ext>
            </a:extLst>
          </p:cNvPr>
          <p:cNvSpPr/>
          <p:nvPr/>
        </p:nvSpPr>
        <p:spPr>
          <a:xfrm>
            <a:off x="8577072" y="5047488"/>
            <a:ext cx="69494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5C2F16-FF35-770F-96C2-6B8EEDA19FFF}"/>
              </a:ext>
            </a:extLst>
          </p:cNvPr>
          <p:cNvSpPr txBox="1"/>
          <p:nvPr/>
        </p:nvSpPr>
        <p:spPr>
          <a:xfrm>
            <a:off x="8577072" y="5047488"/>
            <a:ext cx="69494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B7185"/>
                </a:solidFill>
                <a:latin typeface="Aptos" panose="020B0004020202020204" pitchFamily="34" charset="0"/>
              </a:rPr>
              <a:t>40-50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DD0854D-525D-DAE1-2B4F-409E111E6536}"/>
              </a:ext>
            </a:extLst>
          </p:cNvPr>
          <p:cNvSpPr txBox="1"/>
          <p:nvPr/>
        </p:nvSpPr>
        <p:spPr>
          <a:xfrm>
            <a:off x="9400032" y="4992624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40" b="1">
                <a:solidFill>
                  <a:srgbClr val="F4F7FB"/>
                </a:solidFill>
                <a:latin typeface="Aptos" panose="020B0004020202020204" pitchFamily="34" charset="0"/>
              </a:rPr>
              <a:t>EDGE FADES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B3076F-CDB7-D997-2A25-C2CEA6C9647D}"/>
              </a:ext>
            </a:extLst>
          </p:cNvPr>
          <p:cNvSpPr txBox="1"/>
          <p:nvPr/>
        </p:nvSpPr>
        <p:spPr>
          <a:xfrm>
            <a:off x="9400032" y="5303520"/>
            <a:ext cx="1874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80">
                <a:solidFill>
                  <a:srgbClr val="8DA2B8"/>
                </a:solidFill>
                <a:latin typeface="Aptos" panose="020B0004020202020204" pitchFamily="34" charset="0"/>
              </a:rPr>
              <a:t>Profit factor approaches 1 while drawdown expands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40F1603-F55E-D1BC-78C3-15FC9EDF6BF2}"/>
              </a:ext>
            </a:extLst>
          </p:cNvPr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 cap="flat" cmpd="sng" algn="ctr">
            <a:solidFill>
              <a:srgbClr val="293A5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04BBC55-E0E6-9042-8DCC-B40FA1218BBE}"/>
              </a:ext>
            </a:extLst>
          </p:cNvPr>
          <p:cNvSpPr txBox="1"/>
          <p:nvPr/>
        </p:nvSpPr>
        <p:spPr>
          <a:xfrm>
            <a:off x="521208" y="6528816"/>
            <a:ext cx="7955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20">
                <a:solidFill>
                  <a:srgbClr val="51677F"/>
                </a:solidFill>
                <a:latin typeface="Aptos" panose="020B0004020202020204" pitchFamily="34" charset="0"/>
              </a:rPr>
              <a:t>Width evidence: 11 DTE, same 108 dates across 20 / 25 / 30 / 35 / 40 / 45 / 50-point wings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3CD626-4AE5-8702-4733-1247D8C24D33}"/>
              </a:ext>
            </a:extLst>
          </p:cNvPr>
          <p:cNvSpPr txBox="1"/>
          <p:nvPr/>
        </p:nvSpPr>
        <p:spPr>
          <a:xfrm>
            <a:off x="8549640" y="6528816"/>
            <a:ext cx="3108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00" b="1">
                <a:solidFill>
                  <a:srgbClr val="51677F"/>
                </a:solidFill>
                <a:latin typeface="Aptos" panose="020B0004020202020204" pitchFamily="34" charset="0"/>
              </a:rPr>
              <a:t>OPTION  SMITH  |  CRAFT YOUR TRADING EDGE</a:t>
            </a:r>
          </a:p>
        </p:txBody>
      </p:sp>
    </p:spTree>
    <p:extLst>
      <p:ext uri="{BB962C8B-B14F-4D97-AF65-F5344CB8AC3E}">
        <p14:creationId xmlns:p14="http://schemas.microsoft.com/office/powerpoint/2010/main" val="380901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0BE1EE-D668-8E53-4BD8-CB9C45D37DA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95DE57-5E4A-689F-9A53-5E557C473A57}"/>
              </a:ext>
            </a:extLst>
          </p:cNvPr>
          <p:cNvSpPr/>
          <p:nvPr/>
        </p:nvSpPr>
        <p:spPr>
          <a:xfrm>
            <a:off x="9646920" y="-123444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DB905D-7A2D-AB75-BA37-18FB65CF080D}"/>
              </a:ext>
            </a:extLst>
          </p:cNvPr>
          <p:cNvSpPr/>
          <p:nvPr/>
        </p:nvSpPr>
        <p:spPr>
          <a:xfrm>
            <a:off x="-1234440" y="4800600"/>
            <a:ext cx="3108960" cy="3108960"/>
          </a:xfrm>
          <a:prstGeom prst="ellipse">
            <a:avLst/>
          </a:prstGeom>
          <a:solidFill>
            <a:srgbClr val="34D399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7EDA38-181C-76E1-930F-9A22E8BA6514}"/>
              </a:ext>
            </a:extLst>
          </p:cNvPr>
          <p:cNvCxnSpPr/>
          <p:nvPr/>
        </p:nvCxnSpPr>
        <p:spPr>
          <a:xfrm>
            <a:off x="411480" y="164592"/>
            <a:ext cx="10515600" cy="0"/>
          </a:xfrm>
          <a:prstGeom prst="line">
            <a:avLst/>
          </a:prstGeom>
          <a:ln w="8890" cap="flat" cmpd="sng" algn="ctr">
            <a:solidFill>
              <a:srgbClr val="293A5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A88684C-5103-256E-5FEC-121438EAD7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109728"/>
            <a:ext cx="713232" cy="713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5EB410-1153-A204-979B-3AEF84996B36}"/>
              </a:ext>
            </a:extLst>
          </p:cNvPr>
          <p:cNvSpPr txBox="1"/>
          <p:nvPr/>
        </p:nvSpPr>
        <p:spPr>
          <a:xfrm>
            <a:off x="502920" y="164592"/>
            <a:ext cx="3383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E5ED9-00C9-0996-65E1-8BE5F31C24F2}"/>
              </a:ext>
            </a:extLst>
          </p:cNvPr>
          <p:cNvSpPr txBox="1"/>
          <p:nvPr/>
        </p:nvSpPr>
        <p:spPr>
          <a:xfrm>
            <a:off x="502920" y="475488"/>
            <a:ext cx="104241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2600" b="1">
                <a:solidFill>
                  <a:srgbClr val="F4F7FB"/>
                </a:solidFill>
                <a:latin typeface="Aptos" panose="020B0004020202020204" pitchFamily="34" charset="0"/>
              </a:rPr>
              <a:t>THE RECOMMENDED TRADE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8749C-8BDD-E7C8-5E73-5EE23E79FA6C}"/>
              </a:ext>
            </a:extLst>
          </p:cNvPr>
          <p:cNvSpPr txBox="1"/>
          <p:nvPr/>
        </p:nvSpPr>
        <p:spPr>
          <a:xfrm>
            <a:off x="521208" y="969264"/>
            <a:ext cx="10058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050">
                <a:solidFill>
                  <a:srgbClr val="8DA2B8"/>
                </a:solidFill>
                <a:latin typeface="Aptos" panose="020B0004020202020204" pitchFamily="34" charset="0"/>
              </a:rPr>
              <a:t>A specific implementation based on the matched DTE study and completed wing-width sweep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892AF8-A9AF-B3F6-A5F4-38AC48B5B4B1}"/>
              </a:ext>
            </a:extLst>
          </p:cNvPr>
          <p:cNvSpPr/>
          <p:nvPr/>
        </p:nvSpPr>
        <p:spPr>
          <a:xfrm>
            <a:off x="10469880" y="896112"/>
            <a:ext cx="621793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93C84E-40B5-993F-36CB-21E229F5EC3C}"/>
              </a:ext>
            </a:extLst>
          </p:cNvPr>
          <p:cNvSpPr txBox="1"/>
          <p:nvPr/>
        </p:nvSpPr>
        <p:spPr>
          <a:xfrm>
            <a:off x="10469880" y="896112"/>
            <a:ext cx="6217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8DA2B8"/>
                </a:solidFill>
                <a:latin typeface="Aptos" panose="020B0004020202020204" pitchFamily="34" charset="0"/>
              </a:rPr>
              <a:t>05 / 05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260A7F-438F-EFE1-7DE8-AE69A0CD94E0}"/>
              </a:ext>
            </a:extLst>
          </p:cNvPr>
          <p:cNvSpPr/>
          <p:nvPr/>
        </p:nvSpPr>
        <p:spPr>
          <a:xfrm>
            <a:off x="548640" y="1417320"/>
            <a:ext cx="11091672" cy="1170432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24A4F-ABC5-DBCA-2395-5ACEB0AAD530}"/>
              </a:ext>
            </a:extLst>
          </p:cNvPr>
          <p:cNvSpPr txBox="1"/>
          <p:nvPr/>
        </p:nvSpPr>
        <p:spPr>
          <a:xfrm>
            <a:off x="804672" y="1600200"/>
            <a:ext cx="93268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50" b="1">
                <a:solidFill>
                  <a:srgbClr val="F4B942"/>
                </a:solidFill>
                <a:latin typeface="Aptos" panose="020B0004020202020204" pitchFamily="34" charset="0"/>
              </a:rPr>
              <a:t>TESTED DTE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90D1EC-0962-218D-B87B-A76147CB7276}"/>
              </a:ext>
            </a:extLst>
          </p:cNvPr>
          <p:cNvSpPr/>
          <p:nvPr/>
        </p:nvSpPr>
        <p:spPr>
          <a:xfrm>
            <a:off x="1810512" y="1545336"/>
            <a:ext cx="36576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4EAE5-86F5-E72D-758D-2051BB09D9ED}"/>
              </a:ext>
            </a:extLst>
          </p:cNvPr>
          <p:cNvSpPr txBox="1"/>
          <p:nvPr/>
        </p:nvSpPr>
        <p:spPr>
          <a:xfrm>
            <a:off x="1810512" y="1545336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966918-AD38-6562-DD51-6922B59F7BF9}"/>
              </a:ext>
            </a:extLst>
          </p:cNvPr>
          <p:cNvSpPr/>
          <p:nvPr/>
        </p:nvSpPr>
        <p:spPr>
          <a:xfrm>
            <a:off x="2267712" y="1545336"/>
            <a:ext cx="36576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316A3-5FCB-E570-0FD1-BB66CAEB959A}"/>
              </a:ext>
            </a:extLst>
          </p:cNvPr>
          <p:cNvSpPr txBox="1"/>
          <p:nvPr/>
        </p:nvSpPr>
        <p:spPr>
          <a:xfrm>
            <a:off x="2267712" y="1545336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65543C-5811-5E75-C8A3-62F7E37544CD}"/>
              </a:ext>
            </a:extLst>
          </p:cNvPr>
          <p:cNvSpPr/>
          <p:nvPr/>
        </p:nvSpPr>
        <p:spPr>
          <a:xfrm>
            <a:off x="2724912" y="1545336"/>
            <a:ext cx="36576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9B1780-B775-2BE4-91B9-1C43922CF73C}"/>
              </a:ext>
            </a:extLst>
          </p:cNvPr>
          <p:cNvSpPr txBox="1"/>
          <p:nvPr/>
        </p:nvSpPr>
        <p:spPr>
          <a:xfrm>
            <a:off x="2724912" y="1545336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8BB384-75BF-B725-8DC7-3387D904C312}"/>
              </a:ext>
            </a:extLst>
          </p:cNvPr>
          <p:cNvSpPr/>
          <p:nvPr/>
        </p:nvSpPr>
        <p:spPr>
          <a:xfrm>
            <a:off x="3182112" y="1545336"/>
            <a:ext cx="36576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0B426-8C3E-D9CC-7CB1-5AE8A1E21805}"/>
              </a:ext>
            </a:extLst>
          </p:cNvPr>
          <p:cNvSpPr txBox="1"/>
          <p:nvPr/>
        </p:nvSpPr>
        <p:spPr>
          <a:xfrm>
            <a:off x="3182112" y="1545336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408040-A5CD-F4FA-88E5-6797CF90819A}"/>
              </a:ext>
            </a:extLst>
          </p:cNvPr>
          <p:cNvSpPr/>
          <p:nvPr/>
        </p:nvSpPr>
        <p:spPr>
          <a:xfrm>
            <a:off x="3639312" y="1545336"/>
            <a:ext cx="36576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342FC7-C01A-3E5B-6FF9-A411779AC13E}"/>
              </a:ext>
            </a:extLst>
          </p:cNvPr>
          <p:cNvSpPr txBox="1"/>
          <p:nvPr/>
        </p:nvSpPr>
        <p:spPr>
          <a:xfrm>
            <a:off x="3639312" y="1545336"/>
            <a:ext cx="3657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23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5AB4B1-9505-424B-0A90-FB7F4D5C6241}"/>
              </a:ext>
            </a:extLst>
          </p:cNvPr>
          <p:cNvCxnSpPr/>
          <p:nvPr/>
        </p:nvCxnSpPr>
        <p:spPr>
          <a:xfrm>
            <a:off x="4681728" y="1609344"/>
            <a:ext cx="0" cy="722376"/>
          </a:xfrm>
          <a:prstGeom prst="line">
            <a:avLst/>
          </a:prstGeom>
          <a:ln w="10160" cap="flat" cmpd="sng" algn="ctr">
            <a:solidFill>
              <a:srgbClr val="293A50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8383EE-3AD7-2A47-60D0-64D3468EB7D3}"/>
              </a:ext>
            </a:extLst>
          </p:cNvPr>
          <p:cNvSpPr txBox="1"/>
          <p:nvPr/>
        </p:nvSpPr>
        <p:spPr>
          <a:xfrm>
            <a:off x="4919472" y="1600200"/>
            <a:ext cx="10789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50" b="1">
                <a:solidFill>
                  <a:srgbClr val="F4B942"/>
                </a:solidFill>
                <a:latin typeface="Aptos" panose="020B0004020202020204" pitchFamily="34" charset="0"/>
              </a:rPr>
              <a:t>TESTED WINGS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813D33-D662-02FF-30DD-AA4B31543505}"/>
              </a:ext>
            </a:extLst>
          </p:cNvPr>
          <p:cNvSpPr/>
          <p:nvPr/>
        </p:nvSpPr>
        <p:spPr>
          <a:xfrm>
            <a:off x="609904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94D19F-F7DE-B129-D3C6-4DA27F0A2853}"/>
              </a:ext>
            </a:extLst>
          </p:cNvPr>
          <p:cNvSpPr txBox="1"/>
          <p:nvPr/>
        </p:nvSpPr>
        <p:spPr>
          <a:xfrm>
            <a:off x="609904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D86374-7416-2F0B-2D32-B29D1F1A5F7C}"/>
              </a:ext>
            </a:extLst>
          </p:cNvPr>
          <p:cNvSpPr/>
          <p:nvPr/>
        </p:nvSpPr>
        <p:spPr>
          <a:xfrm>
            <a:off x="660196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3CD1E0-149D-7DAC-2223-B576CF635173}"/>
              </a:ext>
            </a:extLst>
          </p:cNvPr>
          <p:cNvSpPr txBox="1"/>
          <p:nvPr/>
        </p:nvSpPr>
        <p:spPr>
          <a:xfrm>
            <a:off x="660196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1C54DD-6CA1-E767-1206-9402B57B05D1}"/>
              </a:ext>
            </a:extLst>
          </p:cNvPr>
          <p:cNvSpPr/>
          <p:nvPr/>
        </p:nvSpPr>
        <p:spPr>
          <a:xfrm>
            <a:off x="710488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3E3401-5496-27AF-547F-021C75E6FA80}"/>
              </a:ext>
            </a:extLst>
          </p:cNvPr>
          <p:cNvSpPr txBox="1"/>
          <p:nvPr/>
        </p:nvSpPr>
        <p:spPr>
          <a:xfrm>
            <a:off x="710488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B1F18D1-3558-E32D-1FFD-A8278C41CE94}"/>
              </a:ext>
            </a:extLst>
          </p:cNvPr>
          <p:cNvSpPr/>
          <p:nvPr/>
        </p:nvSpPr>
        <p:spPr>
          <a:xfrm>
            <a:off x="760780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9C7E6D-D32B-BEDB-60AF-D962E6A9B497}"/>
              </a:ext>
            </a:extLst>
          </p:cNvPr>
          <p:cNvSpPr txBox="1"/>
          <p:nvPr/>
        </p:nvSpPr>
        <p:spPr>
          <a:xfrm>
            <a:off x="760780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8F7D86A-F975-F320-D085-40B31CEC1B38}"/>
              </a:ext>
            </a:extLst>
          </p:cNvPr>
          <p:cNvSpPr/>
          <p:nvPr/>
        </p:nvSpPr>
        <p:spPr>
          <a:xfrm>
            <a:off x="811072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3F61D4-1632-32AE-FF58-C7914516AA3E}"/>
              </a:ext>
            </a:extLst>
          </p:cNvPr>
          <p:cNvSpPr txBox="1"/>
          <p:nvPr/>
        </p:nvSpPr>
        <p:spPr>
          <a:xfrm>
            <a:off x="811072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9D9E874-10DC-BF60-4B8F-8B69A5505D52}"/>
              </a:ext>
            </a:extLst>
          </p:cNvPr>
          <p:cNvSpPr/>
          <p:nvPr/>
        </p:nvSpPr>
        <p:spPr>
          <a:xfrm>
            <a:off x="861364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9AC4E8-D8E2-1BF4-98F2-4EA8417A30F2}"/>
              </a:ext>
            </a:extLst>
          </p:cNvPr>
          <p:cNvSpPr txBox="1"/>
          <p:nvPr/>
        </p:nvSpPr>
        <p:spPr>
          <a:xfrm>
            <a:off x="861364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5536F5-FFE8-3AB7-0432-04B0D9E50A04}"/>
              </a:ext>
            </a:extLst>
          </p:cNvPr>
          <p:cNvSpPr/>
          <p:nvPr/>
        </p:nvSpPr>
        <p:spPr>
          <a:xfrm>
            <a:off x="9116568" y="1545336"/>
            <a:ext cx="384048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CE283D-A466-452B-5D1F-1247DFD5F199}"/>
              </a:ext>
            </a:extLst>
          </p:cNvPr>
          <p:cNvSpPr txBox="1"/>
          <p:nvPr/>
        </p:nvSpPr>
        <p:spPr>
          <a:xfrm>
            <a:off x="9116568" y="1545336"/>
            <a:ext cx="38404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F7FB"/>
                </a:solidFill>
                <a:latin typeface="Aptos" panose="020B0004020202020204" pitchFamily="34" charset="0"/>
              </a:rPr>
              <a:t>50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353AEC-5DA1-8017-45B2-C2C640D8E7E4}"/>
              </a:ext>
            </a:extLst>
          </p:cNvPr>
          <p:cNvCxnSpPr/>
          <p:nvPr/>
        </p:nvCxnSpPr>
        <p:spPr>
          <a:xfrm>
            <a:off x="9802368" y="1609344"/>
            <a:ext cx="0" cy="722376"/>
          </a:xfrm>
          <a:prstGeom prst="line">
            <a:avLst/>
          </a:prstGeom>
          <a:ln w="10160" cap="flat" cmpd="sng" algn="ctr">
            <a:solidFill>
              <a:srgbClr val="293A50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8771B28-0F36-C017-1490-0EED80308AA3}"/>
              </a:ext>
            </a:extLst>
          </p:cNvPr>
          <p:cNvSpPr txBox="1"/>
          <p:nvPr/>
        </p:nvSpPr>
        <p:spPr>
          <a:xfrm>
            <a:off x="10085832" y="1600200"/>
            <a:ext cx="71323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50" b="1">
                <a:solidFill>
                  <a:srgbClr val="F4B942"/>
                </a:solidFill>
                <a:latin typeface="Aptos" panose="020B0004020202020204" pitchFamily="34" charset="0"/>
              </a:rPr>
              <a:t>TARGETS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E99C62-6476-616B-0FED-BC987CF8ADCF}"/>
              </a:ext>
            </a:extLst>
          </p:cNvPr>
          <p:cNvSpPr txBox="1"/>
          <p:nvPr/>
        </p:nvSpPr>
        <p:spPr>
          <a:xfrm>
            <a:off x="10040112" y="1920240"/>
            <a:ext cx="12435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F4F7FB"/>
                </a:solidFill>
                <a:latin typeface="Aptos" panose="020B0004020202020204" pitchFamily="34" charset="0"/>
              </a:rPr>
              <a:t>150 / 200 / 300%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97FC628-97C2-30C7-853D-C4519799B0FD}"/>
              </a:ext>
            </a:extLst>
          </p:cNvPr>
          <p:cNvSpPr/>
          <p:nvPr/>
        </p:nvSpPr>
        <p:spPr>
          <a:xfrm>
            <a:off x="548640" y="2834640"/>
            <a:ext cx="3557016" cy="199339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C5FC2BB-D074-E2D0-B11C-A5F7D5B35D9B}"/>
              </a:ext>
            </a:extLst>
          </p:cNvPr>
          <p:cNvSpPr/>
          <p:nvPr/>
        </p:nvSpPr>
        <p:spPr>
          <a:xfrm>
            <a:off x="804672" y="3054096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106604-9558-BF46-A9D8-AC15A5B41197}"/>
              </a:ext>
            </a:extLst>
          </p:cNvPr>
          <p:cNvSpPr txBox="1"/>
          <p:nvPr/>
        </p:nvSpPr>
        <p:spPr>
          <a:xfrm>
            <a:off x="804672" y="3054096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DTE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A9AC9B-6A72-338A-AB21-E06FB84C565D}"/>
              </a:ext>
            </a:extLst>
          </p:cNvPr>
          <p:cNvSpPr txBox="1"/>
          <p:nvPr/>
        </p:nvSpPr>
        <p:spPr>
          <a:xfrm>
            <a:off x="2514600" y="2990088"/>
            <a:ext cx="1280160" cy="384048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2100" b="1">
                <a:solidFill>
                  <a:srgbClr val="F4B942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67E75-A013-59D9-0009-BA05DE60281A}"/>
              </a:ext>
            </a:extLst>
          </p:cNvPr>
          <p:cNvSpPr txBox="1"/>
          <p:nvPr/>
        </p:nvSpPr>
        <p:spPr>
          <a:xfrm>
            <a:off x="804672" y="3529584"/>
            <a:ext cx="3017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ENTER AROUND 15 DTE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DA411D-738F-1958-CEF9-00C31D2DB51B}"/>
              </a:ext>
            </a:extLst>
          </p:cNvPr>
          <p:cNvSpPr txBox="1"/>
          <p:nvPr/>
        </p:nvSpPr>
        <p:spPr>
          <a:xfrm>
            <a:off x="804672" y="3950208"/>
            <a:ext cx="296265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30">
                <a:solidFill>
                  <a:srgbClr val="8DA2B8"/>
                </a:solidFill>
                <a:latin typeface="Aptos" panose="020B0004020202020204" pitchFamily="34" charset="0"/>
              </a:rPr>
              <a:t>At +300%, 15 DTE delivered the highest five-way matched EV with an 81.8% hit rate.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0FCE2F7-A8CD-FF01-A62E-D61C7A5328C7}"/>
              </a:ext>
            </a:extLst>
          </p:cNvPr>
          <p:cNvSpPr/>
          <p:nvPr/>
        </p:nvSpPr>
        <p:spPr>
          <a:xfrm>
            <a:off x="4315968" y="2834640"/>
            <a:ext cx="3557016" cy="199339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CA03846-6804-4430-C781-5CEDBD2FC606}"/>
              </a:ext>
            </a:extLst>
          </p:cNvPr>
          <p:cNvSpPr/>
          <p:nvPr/>
        </p:nvSpPr>
        <p:spPr>
          <a:xfrm>
            <a:off x="4572000" y="3054096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BF005C-167F-978F-BFA2-C26555A5D32E}"/>
              </a:ext>
            </a:extLst>
          </p:cNvPr>
          <p:cNvSpPr txBox="1"/>
          <p:nvPr/>
        </p:nvSpPr>
        <p:spPr>
          <a:xfrm>
            <a:off x="4572000" y="3054096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4D399"/>
                </a:solidFill>
                <a:latin typeface="Aptos" panose="020B0004020202020204" pitchFamily="34" charset="0"/>
              </a:rPr>
              <a:t>EXIT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2E8C0A-0177-053B-038A-FDDC34A91D1B}"/>
              </a:ext>
            </a:extLst>
          </p:cNvPr>
          <p:cNvSpPr txBox="1"/>
          <p:nvPr/>
        </p:nvSpPr>
        <p:spPr>
          <a:xfrm>
            <a:off x="6281928" y="2990088"/>
            <a:ext cx="1280160" cy="384048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2100" b="1">
                <a:solidFill>
                  <a:srgbClr val="34D399"/>
                </a:solidFill>
                <a:latin typeface="Aptos" panose="020B0004020202020204" pitchFamily="34" charset="0"/>
              </a:rPr>
              <a:t>+300%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A6BC01-39FF-1805-8BB7-C7412B7BB51B}"/>
              </a:ext>
            </a:extLst>
          </p:cNvPr>
          <p:cNvSpPr txBox="1"/>
          <p:nvPr/>
        </p:nvSpPr>
        <p:spPr>
          <a:xfrm>
            <a:off x="4572000" y="3529584"/>
            <a:ext cx="3017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SET THE TARGET AT +300%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B06567-1660-677C-AA2D-B8A5A238A1C3}"/>
              </a:ext>
            </a:extLst>
          </p:cNvPr>
          <p:cNvSpPr txBox="1"/>
          <p:nvPr/>
        </p:nvSpPr>
        <p:spPr>
          <a:xfrm>
            <a:off x="4572000" y="3950208"/>
            <a:ext cx="296265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30">
                <a:solidFill>
                  <a:srgbClr val="8DA2B8"/>
                </a:solidFill>
                <a:latin typeface="Aptos" panose="020B0004020202020204" pitchFamily="34" charset="0"/>
              </a:rPr>
              <a:t>Highest matched EV and total P/L; only five average hours longer than the +200% exit.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D8F4B71-E995-1411-1510-EDCD650961E4}"/>
              </a:ext>
            </a:extLst>
          </p:cNvPr>
          <p:cNvSpPr/>
          <p:nvPr/>
        </p:nvSpPr>
        <p:spPr>
          <a:xfrm>
            <a:off x="8083296" y="2834640"/>
            <a:ext cx="3557015" cy="1993392"/>
          </a:xfrm>
          <a:prstGeom prst="roundRect">
            <a:avLst/>
          </a:prstGeom>
          <a:solidFill>
            <a:srgbClr val="121B2A">
              <a:alpha val="97000"/>
            </a:srgbClr>
          </a:solidFill>
          <a:ln w="12700">
            <a:solidFill>
              <a:srgbClr val="293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FC1E655-42C4-4C9D-ABC9-249C7DBF7547}"/>
              </a:ext>
            </a:extLst>
          </p:cNvPr>
          <p:cNvSpPr/>
          <p:nvPr/>
        </p:nvSpPr>
        <p:spPr>
          <a:xfrm>
            <a:off x="8339328" y="3054096"/>
            <a:ext cx="640080" cy="274320"/>
          </a:xfrm>
          <a:prstGeom prst="roundRect">
            <a:avLst/>
          </a:prstGeom>
          <a:solidFill>
            <a:srgbClr val="1723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EA89D1-8962-2167-B3B6-AFF5690D2184}"/>
              </a:ext>
            </a:extLst>
          </p:cNvPr>
          <p:cNvSpPr txBox="1"/>
          <p:nvPr/>
        </p:nvSpPr>
        <p:spPr>
          <a:xfrm>
            <a:off x="8339328" y="3054096"/>
            <a:ext cx="6400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3D7E8"/>
                </a:solidFill>
                <a:latin typeface="Aptos" panose="020B0004020202020204" pitchFamily="34" charset="0"/>
              </a:rPr>
              <a:t>WIDTH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FE22DD-512D-F69F-2261-4B9DCE27F237}"/>
              </a:ext>
            </a:extLst>
          </p:cNvPr>
          <p:cNvSpPr txBox="1"/>
          <p:nvPr/>
        </p:nvSpPr>
        <p:spPr>
          <a:xfrm>
            <a:off x="10049256" y="2990088"/>
            <a:ext cx="1280160" cy="384048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2100" b="1">
                <a:solidFill>
                  <a:srgbClr val="43D7E8"/>
                </a:solidFill>
                <a:latin typeface="Aptos" panose="020B0004020202020204" pitchFamily="34" charset="0"/>
              </a:rPr>
              <a:t>20 WIDE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D1C1BB-78AA-364F-5F5F-4C09964D9E2E}"/>
              </a:ext>
            </a:extLst>
          </p:cNvPr>
          <p:cNvSpPr txBox="1"/>
          <p:nvPr/>
        </p:nvSpPr>
        <p:spPr>
          <a:xfrm>
            <a:off x="8339328" y="3529584"/>
            <a:ext cx="3017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KEEP THE WINGS AT 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D0FEA6-5C06-69F1-86AB-C35F5CC608B8}"/>
              </a:ext>
            </a:extLst>
          </p:cNvPr>
          <p:cNvSpPr txBox="1"/>
          <p:nvPr/>
        </p:nvSpPr>
        <p:spPr>
          <a:xfrm>
            <a:off x="8339328" y="3950208"/>
            <a:ext cx="296265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930">
                <a:solidFill>
                  <a:srgbClr val="8DA2B8"/>
                </a:solidFill>
                <a:latin typeface="Aptos" panose="020B0004020202020204" pitchFamily="34" charset="0"/>
              </a:rPr>
              <a:t>The width sweep gave 20 wide the best profit factor and drawdown efficiency.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6969D93-E233-0D37-6092-E9998ADF1BD8}"/>
              </a:ext>
            </a:extLst>
          </p:cNvPr>
          <p:cNvSpPr/>
          <p:nvPr/>
        </p:nvSpPr>
        <p:spPr>
          <a:xfrm>
            <a:off x="548640" y="5093208"/>
            <a:ext cx="11091672" cy="1024128"/>
          </a:xfrm>
          <a:prstGeom prst="roundRect">
            <a:avLst/>
          </a:prstGeom>
          <a:solidFill>
            <a:srgbClr val="0E1725"/>
          </a:solidFill>
          <a:ln w="1397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5FA335-C82C-560E-DDE2-2E6AF62B0A2F}"/>
              </a:ext>
            </a:extLst>
          </p:cNvPr>
          <p:cNvSpPr/>
          <p:nvPr/>
        </p:nvSpPr>
        <p:spPr>
          <a:xfrm>
            <a:off x="804672" y="5321808"/>
            <a:ext cx="749808" cy="274320"/>
          </a:xfrm>
          <a:prstGeom prst="roundRect">
            <a:avLst/>
          </a:prstGeom>
          <a:solidFill>
            <a:srgbClr val="7C57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E7389E-2077-0584-EF5B-AEF37D0F7A10}"/>
              </a:ext>
            </a:extLst>
          </p:cNvPr>
          <p:cNvSpPr txBox="1"/>
          <p:nvPr/>
        </p:nvSpPr>
        <p:spPr>
          <a:xfrm>
            <a:off x="804672" y="5321808"/>
            <a:ext cx="74980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4B942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80F801-21A6-210D-6684-0283C257435C}"/>
              </a:ext>
            </a:extLst>
          </p:cNvPr>
          <p:cNvSpPr txBox="1"/>
          <p:nvPr/>
        </p:nvSpPr>
        <p:spPr>
          <a:xfrm>
            <a:off x="1847088" y="5230368"/>
            <a:ext cx="7315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00" b="1">
                <a:solidFill>
                  <a:srgbClr val="8DA2B8"/>
                </a:solidFill>
                <a:latin typeface="Aptos" panose="020B0004020202020204" pitchFamily="34" charset="0"/>
              </a:rPr>
              <a:t>PRIMARY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8DACA1-B624-DF8C-B224-92E322CFACA5}"/>
              </a:ext>
            </a:extLst>
          </p:cNvPr>
          <p:cNvSpPr txBox="1"/>
          <p:nvPr/>
        </p:nvSpPr>
        <p:spPr>
          <a:xfrm>
            <a:off x="1828800" y="5504688"/>
            <a:ext cx="2578608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F4B942"/>
                </a:solidFill>
                <a:latin typeface="Aptos" panose="020B0004020202020204" pitchFamily="34" charset="0"/>
              </a:rPr>
              <a:t>15 DTE  |  20-wide  |  +300%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01DC845-C729-A4E8-A5CD-194DE1137786}"/>
              </a:ext>
            </a:extLst>
          </p:cNvPr>
          <p:cNvCxnSpPr/>
          <p:nvPr/>
        </p:nvCxnSpPr>
        <p:spPr>
          <a:xfrm>
            <a:off x="4681728" y="5285232"/>
            <a:ext cx="0" cy="630936"/>
          </a:xfrm>
          <a:prstGeom prst="line">
            <a:avLst/>
          </a:prstGeom>
          <a:ln w="10160" cap="flat" cmpd="sng" algn="ctr">
            <a:solidFill>
              <a:srgbClr val="293A50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83795C5-E468-F636-0F31-20E886ECAC18}"/>
              </a:ext>
            </a:extLst>
          </p:cNvPr>
          <p:cNvSpPr txBox="1"/>
          <p:nvPr/>
        </p:nvSpPr>
        <p:spPr>
          <a:xfrm>
            <a:off x="5029200" y="5230368"/>
            <a:ext cx="1993392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00" b="1">
                <a:solidFill>
                  <a:srgbClr val="8DA2B8"/>
                </a:solidFill>
                <a:latin typeface="Aptos" panose="020B0004020202020204" pitchFamily="34" charset="0"/>
              </a:rPr>
              <a:t>SHORTER-HOLD ALTERNATIVE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48B5E7-399F-EED6-3FE4-3972D31C4B68}"/>
              </a:ext>
            </a:extLst>
          </p:cNvPr>
          <p:cNvSpPr txBox="1"/>
          <p:nvPr/>
        </p:nvSpPr>
        <p:spPr>
          <a:xfrm>
            <a:off x="5010912" y="5504688"/>
            <a:ext cx="259689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400" b="1">
                <a:solidFill>
                  <a:srgbClr val="60A5FA"/>
                </a:solidFill>
                <a:latin typeface="Aptos" panose="020B0004020202020204" pitchFamily="34" charset="0"/>
              </a:rPr>
              <a:t>7 DTE  |  20-wide  |  +300%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5581769-C016-B7E7-208E-A7DC9A2362D9}"/>
              </a:ext>
            </a:extLst>
          </p:cNvPr>
          <p:cNvCxnSpPr/>
          <p:nvPr/>
        </p:nvCxnSpPr>
        <p:spPr>
          <a:xfrm>
            <a:off x="7982712" y="5285232"/>
            <a:ext cx="0" cy="630936"/>
          </a:xfrm>
          <a:prstGeom prst="line">
            <a:avLst/>
          </a:prstGeom>
          <a:ln w="10160" cap="flat" cmpd="sng" algn="ctr">
            <a:solidFill>
              <a:srgbClr val="293A50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A3021AA-9B55-B53F-45EB-7C0CBBA2B7D6}"/>
              </a:ext>
            </a:extLst>
          </p:cNvPr>
          <p:cNvSpPr txBox="1"/>
          <p:nvPr/>
        </p:nvSpPr>
        <p:spPr>
          <a:xfrm>
            <a:off x="8330184" y="5230368"/>
            <a:ext cx="859536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800" b="1">
                <a:solidFill>
                  <a:srgbClr val="8DA2B8"/>
                </a:solidFill>
                <a:latin typeface="Aptos" panose="020B0004020202020204" pitchFamily="34" charset="0"/>
              </a:rPr>
              <a:t>ENTRY RULE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B297B1-A29E-2946-2225-12C0B8270332}"/>
              </a:ext>
            </a:extLst>
          </p:cNvPr>
          <p:cNvSpPr txBox="1"/>
          <p:nvPr/>
        </p:nvSpPr>
        <p:spPr>
          <a:xfrm>
            <a:off x="8311896" y="5504688"/>
            <a:ext cx="27432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1300" b="1">
                <a:solidFill>
                  <a:srgbClr val="43D7E8"/>
                </a:solidFill>
                <a:latin typeface="Aptos" panose="020B0004020202020204" pitchFamily="34" charset="0"/>
              </a:rPr>
              <a:t>EMA 9  |  09:35  |  15m window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E23A10-B61B-5CFD-756F-D67E54A44EFF}"/>
              </a:ext>
            </a:extLst>
          </p:cNvPr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 cap="flat" cmpd="sng" algn="ctr">
            <a:solidFill>
              <a:srgbClr val="293A5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239DC7F-19F7-4D18-0668-CCDEFDA6F18D}"/>
              </a:ext>
            </a:extLst>
          </p:cNvPr>
          <p:cNvSpPr txBox="1"/>
          <p:nvPr/>
        </p:nvSpPr>
        <p:spPr>
          <a:xfrm>
            <a:off x="521208" y="6528816"/>
            <a:ext cx="795528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r>
              <a:rPr lang="en-US" sz="720">
                <a:solidFill>
                  <a:srgbClr val="51677F"/>
                </a:solidFill>
                <a:latin typeface="Aptos" panose="020B0004020202020204" pitchFamily="34" charset="0"/>
              </a:rPr>
              <a:t>Research conclusion, not trading advice  |  all DTE conclusions use the same 33 entry dates and pricing assumptions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3DF0FB-E321-6D86-3C96-C2868F4122F2}"/>
              </a:ext>
            </a:extLst>
          </p:cNvPr>
          <p:cNvSpPr txBox="1"/>
          <p:nvPr/>
        </p:nvSpPr>
        <p:spPr>
          <a:xfrm>
            <a:off x="8549640" y="6528816"/>
            <a:ext cx="310896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ctr">
            <a:noAutofit/>
          </a:bodyPr>
          <a:lstStyle/>
          <a:p>
            <a:pPr algn="r"/>
            <a:r>
              <a:rPr lang="en-US" sz="700" b="1">
                <a:solidFill>
                  <a:srgbClr val="51677F"/>
                </a:solidFill>
                <a:latin typeface="Aptos" panose="020B0004020202020204" pitchFamily="34" charset="0"/>
              </a:rPr>
              <a:t>OPTION  SMITH  |  CRAFT YOUR TRADING EDGE</a:t>
            </a:r>
          </a:p>
        </p:txBody>
      </p:sp>
    </p:spTree>
    <p:extLst>
      <p:ext uri="{BB962C8B-B14F-4D97-AF65-F5344CB8AC3E}">
        <p14:creationId xmlns:p14="http://schemas.microsoft.com/office/powerpoint/2010/main" val="188531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Custom</PresentationFormat>
  <Paragraphs>202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Squires</dc:creator>
  <cp:lastModifiedBy>Jeremy Squires</cp:lastModifiedBy>
  <cp:revision>1</cp:revision>
  <dcterms:created xsi:type="dcterms:W3CDTF">2026-08-19T22:06:33Z</dcterms:created>
  <dcterms:modified xsi:type="dcterms:W3CDTF">2026-08-19T22:06:33Z</dcterms:modified>
</cp:coreProperties>
</file>